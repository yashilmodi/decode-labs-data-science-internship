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8" r:id="rId8"/>
    <p:sldId id="262" r:id="rId9"/>
    <p:sldId id="263" r:id="rId10"/>
    <p:sldId id="264" r:id="rId11"/>
    <p:sldId id="265" r:id="rId12"/>
    <p:sldId id="269" r:id="rId13"/>
    <p:sldId id="270" r:id="rId14"/>
    <p:sldId id="266" r:id="rId15"/>
    <p:sldId id="26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il Modi" userId="44a0dc56-297b-46c4-9b30-b1268c6b26f0" providerId="ADAL" clId="{AC302B77-1C78-4383-85D8-1662FD7C6F44}"/>
    <pc:docChg chg="modSld">
      <pc:chgData name="Yashil Modi" userId="44a0dc56-297b-46c4-9b30-b1268c6b26f0" providerId="ADAL" clId="{AC302B77-1C78-4383-85D8-1662FD7C6F44}" dt="2026-07-23T19:09:41.790" v="52" actId="1076"/>
      <pc:docMkLst>
        <pc:docMk/>
      </pc:docMkLst>
      <pc:sldChg chg="addSp modSp mod">
        <pc:chgData name="Yashil Modi" userId="44a0dc56-297b-46c4-9b30-b1268c6b26f0" providerId="ADAL" clId="{AC302B77-1C78-4383-85D8-1662FD7C6F44}" dt="2026-07-23T19:09:41.790" v="52" actId="1076"/>
        <pc:sldMkLst>
          <pc:docMk/>
          <pc:sldMk cId="0" sldId="256"/>
        </pc:sldMkLst>
        <pc:spChg chg="mod">
          <ac:chgData name="Yashil Modi" userId="44a0dc56-297b-46c4-9b30-b1268c6b26f0" providerId="ADAL" clId="{AC302B77-1C78-4383-85D8-1662FD7C6F44}" dt="2026-07-23T19:09:28.137" v="46" actId="20577"/>
          <ac:spMkLst>
            <pc:docMk/>
            <pc:sldMk cId="0" sldId="256"/>
            <ac:spMk id="8" creationId="{00000000-0000-0000-0000-000000000000}"/>
          </ac:spMkLst>
        </pc:spChg>
        <pc:spChg chg="mod">
          <ac:chgData name="Yashil Modi" userId="44a0dc56-297b-46c4-9b30-b1268c6b26f0" providerId="ADAL" clId="{AC302B77-1C78-4383-85D8-1662FD7C6F44}" dt="2026-07-23T19:08:53.115" v="13" actId="20577"/>
          <ac:spMkLst>
            <pc:docMk/>
            <pc:sldMk cId="0" sldId="256"/>
            <ac:spMk id="9" creationId="{00000000-0000-0000-0000-000000000000}"/>
          </ac:spMkLst>
        </pc:spChg>
        <pc:spChg chg="mod">
          <ac:chgData name="Yashil Modi" userId="44a0dc56-297b-46c4-9b30-b1268c6b26f0" providerId="ADAL" clId="{AC302B77-1C78-4383-85D8-1662FD7C6F44}" dt="2026-07-23T19:09:03.191" v="28" actId="20577"/>
          <ac:spMkLst>
            <pc:docMk/>
            <pc:sldMk cId="0" sldId="256"/>
            <ac:spMk id="10" creationId="{00000000-0000-0000-0000-000000000000}"/>
          </ac:spMkLst>
        </pc:spChg>
        <pc:picChg chg="add mod modCrop">
          <ac:chgData name="Yashil Modi" userId="44a0dc56-297b-46c4-9b30-b1268c6b26f0" providerId="ADAL" clId="{AC302B77-1C78-4383-85D8-1662FD7C6F44}" dt="2026-07-23T19:09:41.790" v="52" actId="1076"/>
          <ac:picMkLst>
            <pc:docMk/>
            <pc:sldMk cId="0" sldId="256"/>
            <ac:picMk id="11" creationId="{7F023073-7308-AC9A-C60E-E3C29F5258A0}"/>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761"/>
                </a:solidFill>
                <a:latin typeface="Cambria"/>
              </a:defRPr>
            </a:pPr>
            <a:r>
              <a:rPr lang="en-US" sz="1300" b="0" i="0" u="none" strike="noStrike">
                <a:solidFill>
                  <a:srgbClr val="1E2761"/>
                </a:solidFill>
                <a:latin typeface="Cambria"/>
              </a:rPr>
              <a:t>High-Value Orders</a:t>
            </a:r>
          </a:p>
        </c:rich>
      </c:tx>
      <c:overlay val="0"/>
    </c:title>
    <c:autoTitleDeleted val="0"/>
    <c:plotArea>
      <c:layout/>
      <c:doughnutChart>
        <c:varyColors val="1"/>
        <c:ser>
          <c:idx val="0"/>
          <c:order val="0"/>
          <c:tx>
            <c:strRef>
              <c:f>Sheet1!$B$1</c:f>
              <c:strCache>
                <c:ptCount val="1"/>
                <c:pt idx="0">
                  <c:v>High-Value Orders</c:v>
                </c:pt>
              </c:strCache>
            </c:strRef>
          </c:tx>
          <c:spPr>
            <a:solidFill>
              <a:schemeClr val="accent1"/>
            </a:solidFill>
            <a:ln w="9525" cap="flat">
              <a:solidFill>
                <a:srgbClr val="F9F9F9"/>
              </a:solidFill>
              <a:prstDash val="solid"/>
              <a:round/>
            </a:ln>
            <a:effectLst/>
          </c:spPr>
          <c:dPt>
            <c:idx val="0"/>
            <c:bubble3D val="0"/>
            <c:spPr>
              <a:solidFill>
                <a:srgbClr val="F4A300"/>
              </a:solidFill>
              <a:effectLst/>
            </c:spPr>
            <c:extLst>
              <c:ext xmlns:c16="http://schemas.microsoft.com/office/drawing/2014/chart" uri="{C3380CC4-5D6E-409C-BE32-E72D297353CC}">
                <c16:uniqueId val="{00000001-8C90-44DA-B363-512C70056179}"/>
              </c:ext>
            </c:extLst>
          </c:dPt>
          <c:dPt>
            <c:idx val="1"/>
            <c:bubble3D val="0"/>
            <c:spPr>
              <a:solidFill>
                <a:srgbClr val="CADCFC"/>
              </a:solidFill>
              <a:effectLst/>
            </c:spPr>
            <c:extLst>
              <c:ext xmlns:c16="http://schemas.microsoft.com/office/drawing/2014/chart" uri="{C3380CC4-5D6E-409C-BE32-E72D297353CC}">
                <c16:uniqueId val="{00000003-8C90-44DA-B363-512C70056179}"/>
              </c:ext>
            </c:extLst>
          </c:dPt>
          <c:dLbls>
            <c:dLbl>
              <c:idx val="0"/>
              <c:numFmt formatCode="General" sourceLinked="0"/>
              <c:spPr/>
              <c:txPr>
                <a:bodyPr/>
                <a:lstStyle/>
                <a:p>
                  <a:pPr>
                    <a:defRPr sz="1100" b="0" i="0" u="none" strike="noStrike">
                      <a:solidFill>
                        <a:srgbClr val="1E2761"/>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C90-44DA-B363-512C70056179}"/>
                </c:ext>
              </c:extLst>
            </c:dLbl>
            <c:dLbl>
              <c:idx val="1"/>
              <c:numFmt formatCode="General" sourceLinked="0"/>
              <c:spPr/>
              <c:txPr>
                <a:bodyPr/>
                <a:lstStyle/>
                <a:p>
                  <a:pPr>
                    <a:defRPr sz="1100" b="0" i="0" u="none" strike="noStrike">
                      <a:solidFill>
                        <a:srgbClr val="1E2761"/>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C90-44DA-B363-512C70056179}"/>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High-value</c:v>
                </c:pt>
                <c:pt idx="1">
                  <c:v>Standard</c:v>
                </c:pt>
              </c:strCache>
            </c:strRef>
          </c:cat>
          <c:val>
            <c:numRef>
              <c:f>Sheet1!$B$2:$B$3</c:f>
              <c:numCache>
                <c:formatCode>General</c:formatCode>
                <c:ptCount val="2"/>
                <c:pt idx="0">
                  <c:v>300</c:v>
                </c:pt>
                <c:pt idx="1">
                  <c:v>900</c:v>
                </c:pt>
              </c:numCache>
            </c:numRef>
          </c:val>
          <c:extLst>
            <c:ext xmlns:c16="http://schemas.microsoft.com/office/drawing/2014/chart" uri="{C3380CC4-5D6E-409C-BE32-E72D297353CC}">
              <c16:uniqueId val="{00000004-8C90-44DA-B363-512C70056179}"/>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txPr>
        <a:bodyPr/>
        <a:lstStyle/>
        <a:p>
          <a:pPr>
            <a:defRPr sz="1000">
              <a:solidFill>
                <a:srgbClr val="1B214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761"/>
                </a:solidFill>
                <a:latin typeface="Cambria"/>
              </a:defRPr>
            </a:pPr>
            <a:r>
              <a:rPr lang="en-US" sz="1300" b="0" i="0" u="none" strike="noStrike">
                <a:solidFill>
                  <a:srgbClr val="1E2761"/>
                </a:solidFill>
                <a:latin typeface="Cambria"/>
              </a:rPr>
              <a:t>Coupon Usage</a:t>
            </a:r>
          </a:p>
        </c:rich>
      </c:tx>
      <c:overlay val="0"/>
    </c:title>
    <c:autoTitleDeleted val="0"/>
    <c:plotArea>
      <c:layout/>
      <c:doughnutChart>
        <c:varyColors val="1"/>
        <c:ser>
          <c:idx val="0"/>
          <c:order val="0"/>
          <c:tx>
            <c:strRef>
              <c:f>Sheet1!$B$1</c:f>
              <c:strCache>
                <c:ptCount val="1"/>
                <c:pt idx="0">
                  <c:v>Coupon Usage</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F895-4DF1-8ADC-F28DECB0D970}"/>
              </c:ext>
            </c:extLst>
          </c:dPt>
          <c:dPt>
            <c:idx val="1"/>
            <c:bubble3D val="0"/>
            <c:spPr>
              <a:solidFill>
                <a:srgbClr val="CADCFC"/>
              </a:solidFill>
              <a:effectLst/>
            </c:spPr>
            <c:extLst>
              <c:ext xmlns:c16="http://schemas.microsoft.com/office/drawing/2014/chart" uri="{C3380CC4-5D6E-409C-BE32-E72D297353CC}">
                <c16:uniqueId val="{00000003-F895-4DF1-8ADC-F28DECB0D970}"/>
              </c:ext>
            </c:extLst>
          </c:dPt>
          <c:dLbls>
            <c:dLbl>
              <c:idx val="0"/>
              <c:numFmt formatCode="General" sourceLinked="0"/>
              <c:spPr/>
              <c:txPr>
                <a:bodyPr/>
                <a:lstStyle/>
                <a:p>
                  <a:pPr>
                    <a:defRPr sz="11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895-4DF1-8ADC-F28DECB0D970}"/>
                </c:ext>
              </c:extLst>
            </c:dLbl>
            <c:dLbl>
              <c:idx val="1"/>
              <c:numFmt formatCode="General" sourceLinked="0"/>
              <c:spPr/>
              <c:txPr>
                <a:bodyPr/>
                <a:lstStyle/>
                <a:p>
                  <a:pPr>
                    <a:defRPr sz="11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895-4DF1-8ADC-F28DECB0D970}"/>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Used coupon</c:v>
                </c:pt>
                <c:pt idx="1">
                  <c:v>No coupon</c:v>
                </c:pt>
              </c:strCache>
            </c:strRef>
          </c:cat>
          <c:val>
            <c:numRef>
              <c:f>Sheet1!$B$2:$B$3</c:f>
              <c:numCache>
                <c:formatCode>General</c:formatCode>
                <c:ptCount val="2"/>
                <c:pt idx="0">
                  <c:v>891</c:v>
                </c:pt>
                <c:pt idx="1">
                  <c:v>309</c:v>
                </c:pt>
              </c:numCache>
            </c:numRef>
          </c:val>
          <c:extLst>
            <c:ext xmlns:c16="http://schemas.microsoft.com/office/drawing/2014/chart" uri="{C3380CC4-5D6E-409C-BE32-E72D297353CC}">
              <c16:uniqueId val="{00000004-F895-4DF1-8ADC-F28DECB0D970}"/>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txPr>
        <a:bodyPr/>
        <a:lstStyle/>
        <a:p>
          <a:pPr>
            <a:defRPr sz="1000">
              <a:solidFill>
                <a:srgbClr val="1B214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Logistic Regression</c:v>
                </c:pt>
              </c:strCache>
            </c:strRef>
          </c:tx>
          <c:spPr>
            <a:solidFill>
              <a:srgbClr val="5B7FBF"/>
            </a:solidFill>
            <a:effectLst/>
          </c:spPr>
          <c:invertIfNegative val="0"/>
          <c:dLbls>
            <c:numFmt formatCode="#,##0" sourceLinked="0"/>
            <c:spPr>
              <a:noFill/>
              <a:ln>
                <a:noFill/>
              </a:ln>
              <a:effectLst/>
            </c:spPr>
            <c:txPr>
              <a:bodyPr/>
              <a:lstStyle/>
              <a:p>
                <a:pPr>
                  <a:defRPr sz="900" b="0" i="0" u="none" strike="noStrike">
                    <a:solidFill>
                      <a:srgbClr val="1B214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Precision</c:v>
                </c:pt>
                <c:pt idx="1">
                  <c:v>Recall</c:v>
                </c:pt>
                <c:pt idx="2">
                  <c:v>F1</c:v>
                </c:pt>
                <c:pt idx="3">
                  <c:v>PR-AUC</c:v>
                </c:pt>
              </c:strCache>
            </c:strRef>
          </c:cat>
          <c:val>
            <c:numRef>
              <c:f>Sheet1!$B$2:$B$5</c:f>
              <c:numCache>
                <c:formatCode>General</c:formatCode>
                <c:ptCount val="4"/>
                <c:pt idx="0">
                  <c:v>5.8517555266579903E-2</c:v>
                </c:pt>
                <c:pt idx="1">
                  <c:v>0.91836734693877564</c:v>
                </c:pt>
                <c:pt idx="2">
                  <c:v>0.1100244498777506</c:v>
                </c:pt>
                <c:pt idx="3">
                  <c:v>0.71333659415518358</c:v>
                </c:pt>
              </c:numCache>
            </c:numRef>
          </c:val>
          <c:extLst>
            <c:ext xmlns:c16="http://schemas.microsoft.com/office/drawing/2014/chart" uri="{C3380CC4-5D6E-409C-BE32-E72D297353CC}">
              <c16:uniqueId val="{00000000-008A-4E8F-A757-C0AAC6C11BB1}"/>
            </c:ext>
          </c:extLst>
        </c:ser>
        <c:ser>
          <c:idx val="1"/>
          <c:order val="1"/>
          <c:tx>
            <c:strRef>
              <c:f>Sheet1!$C$1</c:f>
              <c:strCache>
                <c:ptCount val="1"/>
                <c:pt idx="0">
                  <c:v>Random Forest</c:v>
                </c:pt>
              </c:strCache>
            </c:strRef>
          </c:tx>
          <c:spPr>
            <a:solidFill>
              <a:srgbClr val="F4A300"/>
            </a:solidFill>
            <a:effectLst/>
          </c:spPr>
          <c:invertIfNegative val="0"/>
          <c:dLbls>
            <c:numFmt formatCode="#,##0" sourceLinked="0"/>
            <c:spPr>
              <a:noFill/>
              <a:ln>
                <a:noFill/>
              </a:ln>
              <a:effectLst/>
            </c:spPr>
            <c:txPr>
              <a:bodyPr/>
              <a:lstStyle/>
              <a:p>
                <a:pPr>
                  <a:defRPr sz="900" b="0" i="0" u="none" strike="noStrike">
                    <a:solidFill>
                      <a:srgbClr val="1B214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Precision</c:v>
                </c:pt>
                <c:pt idx="1">
                  <c:v>Recall</c:v>
                </c:pt>
                <c:pt idx="2">
                  <c:v>F1</c:v>
                </c:pt>
                <c:pt idx="3">
                  <c:v>PR-AUC</c:v>
                </c:pt>
              </c:strCache>
            </c:strRef>
          </c:cat>
          <c:val>
            <c:numRef>
              <c:f>Sheet1!$C$2:$C$5</c:f>
              <c:numCache>
                <c:formatCode>General</c:formatCode>
                <c:ptCount val="4"/>
                <c:pt idx="0">
                  <c:v>0.55483870967741933</c:v>
                </c:pt>
                <c:pt idx="1">
                  <c:v>0.87755102040816324</c:v>
                </c:pt>
                <c:pt idx="2">
                  <c:v>0.67984189723320154</c:v>
                </c:pt>
                <c:pt idx="3">
                  <c:v>0.81598583369560318</c:v>
                </c:pt>
              </c:numCache>
            </c:numRef>
          </c:val>
          <c:extLst>
            <c:ext xmlns:c16="http://schemas.microsoft.com/office/drawing/2014/chart" uri="{C3380CC4-5D6E-409C-BE32-E72D297353CC}">
              <c16:uniqueId val="{00000001-008A-4E8F-A757-C0AAC6C11BB1}"/>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9E"/>
                </a:solidFill>
                <a:latin typeface="Calibri"/>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9525" cap="flat">
              <a:solidFill>
                <a:srgbClr val="E4E9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9E"/>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14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4360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1828800"/>
            <a:ext cx="4754880" cy="4754880"/>
          </a:xfrm>
          <a:prstGeom prst="ellipse">
            <a:avLst/>
          </a:prstGeom>
          <a:solidFill>
            <a:srgbClr val="CADCFC">
              <a:alpha val="12000"/>
            </a:srgbClr>
          </a:solidFill>
          <a:ln/>
        </p:spPr>
        <p:txBody>
          <a:bodyPr/>
          <a:lstStyle/>
          <a:p>
            <a:endParaRPr lang="en-US"/>
          </a:p>
        </p:txBody>
      </p:sp>
      <p:sp>
        <p:nvSpPr>
          <p:cNvPr id="3" name="Shape 1"/>
          <p:cNvSpPr/>
          <p:nvPr/>
        </p:nvSpPr>
        <p:spPr>
          <a:xfrm>
            <a:off x="-1463040" y="4846320"/>
            <a:ext cx="3291840" cy="3291840"/>
          </a:xfrm>
          <a:prstGeom prst="ellipse">
            <a:avLst/>
          </a:prstGeom>
          <a:solidFill>
            <a:srgbClr val="F4A300">
              <a:alpha val="15000"/>
            </a:srgbClr>
          </a:solidFill>
          <a:ln/>
        </p:spPr>
        <p:txBody>
          <a:bodyPr/>
          <a:lstStyle/>
          <a:p>
            <a:endParaRPr lang="en-US"/>
          </a:p>
        </p:txBody>
      </p:sp>
      <p:sp>
        <p:nvSpPr>
          <p:cNvPr id="4" name="Shape 2"/>
          <p:cNvSpPr/>
          <p:nvPr/>
        </p:nvSpPr>
        <p:spPr>
          <a:xfrm>
            <a:off x="9921240" y="868680"/>
            <a:ext cx="1554480" cy="1554480"/>
          </a:xfrm>
          <a:prstGeom prst="ellipse">
            <a:avLst/>
          </a:prstGeom>
          <a:solidFill>
            <a:srgbClr val="141B47"/>
          </a:solidFill>
          <a:ln/>
        </p:spPr>
        <p:txBody>
          <a:bodyPr/>
          <a:lstStyle/>
          <a:p>
            <a:endParaRPr lang="en-US"/>
          </a:p>
        </p:txBody>
      </p:sp>
      <p:pic>
        <p:nvPicPr>
          <p:cNvPr id="5" name="Image 0" descr="/home/claude/decodelabs_deck/assets/barchart_amber.png"/>
          <p:cNvPicPr>
            <a:picLocks noChangeAspect="1"/>
          </p:cNvPicPr>
          <p:nvPr/>
        </p:nvPicPr>
        <p:blipFill>
          <a:blip r:embed="rId3"/>
          <a:stretch>
            <a:fillRect/>
          </a:stretch>
        </p:blipFill>
        <p:spPr>
          <a:xfrm>
            <a:off x="10305288" y="1252728"/>
            <a:ext cx="786384" cy="786384"/>
          </a:xfrm>
          <a:prstGeom prst="rect">
            <a:avLst/>
          </a:prstGeom>
        </p:spPr>
      </p:pic>
      <p:sp>
        <p:nvSpPr>
          <p:cNvPr id="6" name="Text 3"/>
          <p:cNvSpPr/>
          <p:nvPr/>
        </p:nvSpPr>
        <p:spPr>
          <a:xfrm>
            <a:off x="731520" y="1783080"/>
            <a:ext cx="8686800" cy="365760"/>
          </a:xfrm>
          <a:prstGeom prst="rect">
            <a:avLst/>
          </a:prstGeom>
          <a:noFill/>
          <a:ln/>
        </p:spPr>
        <p:txBody>
          <a:bodyPr wrap="square" lIns="0" tIns="0" rIns="0" bIns="0" rtlCol="0" anchor="ctr"/>
          <a:lstStyle/>
          <a:p>
            <a:pPr marL="0" indent="0">
              <a:buNone/>
            </a:pPr>
            <a:r>
              <a:rPr lang="en-US" sz="1400" b="1" kern="0" spc="200" dirty="0">
                <a:solidFill>
                  <a:srgbClr val="F4A300"/>
                </a:solidFill>
                <a:latin typeface="Calibri" pitchFamily="34" charset="0"/>
                <a:ea typeface="Calibri" pitchFamily="34" charset="-122"/>
                <a:cs typeface="Calibri" pitchFamily="34" charset="-120"/>
              </a:rPr>
              <a:t>DECODELABS  •  DATA SCIENCE INTERNSHIP</a:t>
            </a:r>
            <a:endParaRPr lang="en-US" sz="1400" dirty="0"/>
          </a:p>
        </p:txBody>
      </p:sp>
      <p:sp>
        <p:nvSpPr>
          <p:cNvPr id="7" name="Text 4"/>
          <p:cNvSpPr/>
          <p:nvPr/>
        </p:nvSpPr>
        <p:spPr>
          <a:xfrm>
            <a:off x="713232" y="2194560"/>
            <a:ext cx="9326880" cy="173736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From Raw Data to</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Fraud Detection</a:t>
            </a:r>
            <a:endParaRPr lang="en-US" sz="4400" dirty="0"/>
          </a:p>
        </p:txBody>
      </p:sp>
      <p:sp>
        <p:nvSpPr>
          <p:cNvPr id="8" name="Text 5"/>
          <p:cNvSpPr/>
          <p:nvPr/>
        </p:nvSpPr>
        <p:spPr>
          <a:xfrm>
            <a:off x="731520" y="4160520"/>
            <a:ext cx="9418320" cy="822960"/>
          </a:xfrm>
          <a:prstGeom prst="rect">
            <a:avLst/>
          </a:prstGeom>
          <a:noFill/>
          <a:ln/>
        </p:spPr>
        <p:txBody>
          <a:bodyPr wrap="square" lIns="0" tIns="0" rIns="0" bIns="0" rtlCol="0" anchor="ctr"/>
          <a:lstStyle/>
          <a:p>
            <a:pPr marL="0" indent="0">
              <a:lnSpc>
                <a:spcPct val="130000"/>
              </a:lnSpc>
              <a:buNone/>
            </a:pPr>
            <a:r>
              <a:rPr lang="en-US" sz="1600" b="1" dirty="0">
                <a:solidFill>
                  <a:srgbClr val="F4A300"/>
                </a:solidFill>
                <a:latin typeface="Calibri" pitchFamily="34" charset="0"/>
                <a:ea typeface="Calibri" pitchFamily="34" charset="-122"/>
                <a:cs typeface="Calibri" pitchFamily="34" charset="-120"/>
              </a:rPr>
              <a:t>Task 1</a:t>
            </a:r>
            <a:r>
              <a:rPr lang="en-US" sz="1600" dirty="0">
                <a:solidFill>
                  <a:srgbClr val="CADCFC"/>
                </a:solidFill>
                <a:latin typeface="Calibri" pitchFamily="34" charset="0"/>
                <a:ea typeface="Calibri" pitchFamily="34" charset="-122"/>
                <a:cs typeface="Calibri" pitchFamily="34" charset="-120"/>
              </a:rPr>
              <a:t> : Data Cleaning &amp; Feature Engineering</a:t>
            </a:r>
            <a:endParaRPr lang="en-US" sz="1600" dirty="0"/>
          </a:p>
          <a:p>
            <a:pPr marL="0" indent="0">
              <a:lnSpc>
                <a:spcPct val="130000"/>
              </a:lnSpc>
              <a:buNone/>
            </a:pPr>
            <a:r>
              <a:rPr lang="en-US" sz="1600" b="1" dirty="0">
                <a:solidFill>
                  <a:srgbClr val="F4A300"/>
                </a:solidFill>
                <a:latin typeface="Calibri" pitchFamily="34" charset="0"/>
                <a:ea typeface="Calibri" pitchFamily="34" charset="-122"/>
                <a:cs typeface="Calibri" pitchFamily="34" charset="-120"/>
              </a:rPr>
              <a:t>Task 2</a:t>
            </a:r>
            <a:r>
              <a:rPr lang="en-US" sz="1600" dirty="0">
                <a:solidFill>
                  <a:srgbClr val="CADCFC"/>
                </a:solidFill>
                <a:latin typeface="Calibri" pitchFamily="34" charset="0"/>
                <a:ea typeface="Calibri" pitchFamily="34" charset="-122"/>
                <a:cs typeface="Calibri" pitchFamily="34" charset="-120"/>
              </a:rPr>
              <a:t>: Credit Card Fraud Detection with Machine Learning</a:t>
            </a:r>
            <a:endParaRPr lang="en-US" sz="1600" dirty="0"/>
          </a:p>
        </p:txBody>
      </p:sp>
      <p:sp>
        <p:nvSpPr>
          <p:cNvPr id="9" name="Text 6"/>
          <p:cNvSpPr/>
          <p:nvPr/>
        </p:nvSpPr>
        <p:spPr>
          <a:xfrm>
            <a:off x="731520" y="5806440"/>
            <a:ext cx="54864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Prepared by Yashil Modi</a:t>
            </a:r>
            <a:endParaRPr lang="en-US" sz="1400" dirty="0"/>
          </a:p>
        </p:txBody>
      </p:sp>
      <p:sp>
        <p:nvSpPr>
          <p:cNvPr id="10" name="Text 7"/>
          <p:cNvSpPr/>
          <p:nvPr/>
        </p:nvSpPr>
        <p:spPr>
          <a:xfrm>
            <a:off x="731520" y="6108192"/>
            <a:ext cx="5486400" cy="27432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Data Science Internship Project Walkthrough</a:t>
            </a:r>
            <a:endParaRPr lang="en-US" sz="1100" dirty="0"/>
          </a:p>
        </p:txBody>
      </p:sp>
      <p:pic>
        <p:nvPicPr>
          <p:cNvPr id="11" name="Picture 10">
            <a:extLst>
              <a:ext uri="{FF2B5EF4-FFF2-40B4-BE49-F238E27FC236}">
                <a16:creationId xmlns:a16="http://schemas.microsoft.com/office/drawing/2014/main" id="{7F023073-7308-AC9A-C60E-E3C29F5258A0}"/>
              </a:ext>
            </a:extLst>
          </p:cNvPr>
          <p:cNvPicPr>
            <a:picLocks noChangeAspect="1"/>
          </p:cNvPicPr>
          <p:nvPr/>
        </p:nvPicPr>
        <p:blipFill>
          <a:blip r:embed="rId4"/>
          <a:srcRect l="13197" t="22840" r="12037" b="20370"/>
          <a:stretch>
            <a:fillRect/>
          </a:stretch>
        </p:blipFill>
        <p:spPr>
          <a:xfrm>
            <a:off x="9040091" y="4524490"/>
            <a:ext cx="2530394" cy="19220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601200" cy="292608"/>
          </a:xfrm>
          <a:prstGeom prst="rect">
            <a:avLst/>
          </a:prstGeom>
          <a:noFill/>
          <a:ln/>
        </p:spPr>
        <p:txBody>
          <a:bodyPr wrap="square" lIns="0" tIns="0" rIns="0" bIns="0"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640080" y="658368"/>
            <a:ext cx="9784080" cy="640080"/>
          </a:xfrm>
          <a:prstGeom prst="rect">
            <a:avLst/>
          </a:prstGeom>
          <a:noFill/>
          <a:ln/>
        </p:spPr>
        <p:txBody>
          <a:bodyPr wrap="square" lIns="0" tIns="0" rIns="0" bIns="0" rtlCol="0" anchor="t"/>
          <a:lstStyle/>
          <a:p>
            <a:pPr marL="0" indent="0">
              <a:buNone/>
            </a:pPr>
            <a:r>
              <a:rPr lang="en-US" sz="2800" b="1" dirty="0">
                <a:solidFill>
                  <a:srgbClr val="1E2761"/>
                </a:solidFill>
                <a:latin typeface="Cambria" pitchFamily="34" charset="0"/>
                <a:ea typeface="Cambria" pitchFamily="34" charset="-122"/>
                <a:cs typeface="Cambria" pitchFamily="34" charset="-120"/>
              </a:rPr>
              <a:t>Two Tasks, One Data Science Workflow</a:t>
            </a:r>
            <a:endParaRPr lang="en-US" sz="2800" dirty="0"/>
          </a:p>
        </p:txBody>
      </p:sp>
      <p:sp>
        <p:nvSpPr>
          <p:cNvPr id="4" name="Shape 2"/>
          <p:cNvSpPr/>
          <p:nvPr/>
        </p:nvSpPr>
        <p:spPr>
          <a:xfrm>
            <a:off x="10817352" y="502920"/>
            <a:ext cx="777240" cy="777240"/>
          </a:xfrm>
          <a:prstGeom prst="ellipse">
            <a:avLst/>
          </a:prstGeom>
          <a:solidFill>
            <a:srgbClr val="1E2761"/>
          </a:solidFill>
          <a:ln/>
        </p:spPr>
        <p:txBody>
          <a:bodyPr/>
          <a:lstStyle/>
          <a:p>
            <a:endParaRPr lang="en-US"/>
          </a:p>
        </p:txBody>
      </p:sp>
      <p:pic>
        <p:nvPicPr>
          <p:cNvPr id="5" name="Image 0" descr="/home/claude/decodelabs_deck/assets/layers_white.png"/>
          <p:cNvPicPr>
            <a:picLocks noChangeAspect="1"/>
          </p:cNvPicPr>
          <p:nvPr/>
        </p:nvPicPr>
        <p:blipFill>
          <a:blip r:embed="rId3"/>
          <a:stretch>
            <a:fillRect/>
          </a:stretch>
        </p:blipFill>
        <p:spPr>
          <a:xfrm>
            <a:off x="11000232" y="685800"/>
            <a:ext cx="411480" cy="411480"/>
          </a:xfrm>
          <a:prstGeom prst="rect">
            <a:avLst/>
          </a:prstGeom>
        </p:spPr>
      </p:pic>
      <p:sp>
        <p:nvSpPr>
          <p:cNvPr id="6" name="Shape 3"/>
          <p:cNvSpPr/>
          <p:nvPr/>
        </p:nvSpPr>
        <p:spPr>
          <a:xfrm>
            <a:off x="640080" y="1691640"/>
            <a:ext cx="5257800" cy="3977640"/>
          </a:xfrm>
          <a:prstGeom prst="roundRect">
            <a:avLst>
              <a:gd name="adj" fmla="val 1839"/>
            </a:avLst>
          </a:prstGeom>
          <a:solidFill>
            <a:srgbClr val="EEF3FC"/>
          </a:solidFill>
          <a:ln/>
          <a:effectLst>
            <a:outerShdw blurRad="76200" dist="25400" dir="5400000" algn="bl" rotWithShape="0">
              <a:srgbClr val="0B1330">
                <a:alpha val="12000"/>
              </a:srgbClr>
            </a:outerShdw>
          </a:effectLst>
        </p:spPr>
        <p:txBody>
          <a:bodyPr/>
          <a:lstStyle/>
          <a:p>
            <a:endParaRPr lang="en-US"/>
          </a:p>
        </p:txBody>
      </p:sp>
      <p:sp>
        <p:nvSpPr>
          <p:cNvPr id="7" name="Shape 4"/>
          <p:cNvSpPr/>
          <p:nvPr/>
        </p:nvSpPr>
        <p:spPr>
          <a:xfrm>
            <a:off x="960120" y="2011680"/>
            <a:ext cx="685800" cy="685800"/>
          </a:xfrm>
          <a:prstGeom prst="ellipse">
            <a:avLst/>
          </a:prstGeom>
          <a:solidFill>
            <a:srgbClr val="1E2761"/>
          </a:solidFill>
          <a:ln/>
        </p:spPr>
        <p:txBody>
          <a:bodyPr/>
          <a:lstStyle/>
          <a:p>
            <a:endParaRPr lang="en-US"/>
          </a:p>
        </p:txBody>
      </p:sp>
      <p:pic>
        <p:nvPicPr>
          <p:cNvPr id="8" name="Image 1" descr="/home/claude/decodelabs_deck/assets/filter_white.png"/>
          <p:cNvPicPr>
            <a:picLocks noChangeAspect="1"/>
          </p:cNvPicPr>
          <p:nvPr/>
        </p:nvPicPr>
        <p:blipFill>
          <a:blip r:embed="rId4"/>
          <a:stretch>
            <a:fillRect/>
          </a:stretch>
        </p:blipFill>
        <p:spPr>
          <a:xfrm>
            <a:off x="1124712" y="2176272"/>
            <a:ext cx="356616" cy="356616"/>
          </a:xfrm>
          <a:prstGeom prst="rect">
            <a:avLst/>
          </a:prstGeom>
        </p:spPr>
      </p:pic>
      <p:sp>
        <p:nvSpPr>
          <p:cNvPr id="9" name="Text 5"/>
          <p:cNvSpPr/>
          <p:nvPr/>
        </p:nvSpPr>
        <p:spPr>
          <a:xfrm>
            <a:off x="1783080" y="2048256"/>
            <a:ext cx="3657600" cy="274320"/>
          </a:xfrm>
          <a:prstGeom prst="rect">
            <a:avLst/>
          </a:prstGeom>
          <a:noFill/>
          <a:ln/>
        </p:spPr>
        <p:txBody>
          <a:bodyPr wrap="square" lIns="0" tIns="0" rIns="0" bIns="0"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TASK 1</a:t>
            </a:r>
            <a:endParaRPr lang="en-US" sz="1200" dirty="0"/>
          </a:p>
        </p:txBody>
      </p:sp>
      <p:sp>
        <p:nvSpPr>
          <p:cNvPr id="10" name="Text 6"/>
          <p:cNvSpPr/>
          <p:nvPr/>
        </p:nvSpPr>
        <p:spPr>
          <a:xfrm>
            <a:off x="1783080" y="2286000"/>
            <a:ext cx="3931920" cy="822960"/>
          </a:xfrm>
          <a:prstGeom prst="rect">
            <a:avLst/>
          </a:prstGeom>
          <a:noFill/>
          <a:ln/>
        </p:spPr>
        <p:txBody>
          <a:bodyPr wrap="square" lIns="0" tIns="0" rIns="0" bIns="0" rtlCol="0" anchor="ctr"/>
          <a:lstStyle/>
          <a:p>
            <a:pPr marL="0" indent="0">
              <a:lnSpc>
                <a:spcPct val="105000"/>
              </a:lnSpc>
              <a:buNone/>
            </a:pPr>
            <a:r>
              <a:rPr lang="en-US" sz="1900" b="1" dirty="0">
                <a:solidFill>
                  <a:srgbClr val="1E2761"/>
                </a:solidFill>
                <a:latin typeface="Cambria" pitchFamily="34" charset="0"/>
                <a:ea typeface="Cambria" pitchFamily="34" charset="-122"/>
                <a:cs typeface="Cambria" pitchFamily="34" charset="-120"/>
              </a:rPr>
              <a:t>Data Cleaning &amp;</a:t>
            </a:r>
            <a:endParaRPr lang="en-US" sz="1900" dirty="0"/>
          </a:p>
          <a:p>
            <a:pPr marL="0" indent="0">
              <a:lnSpc>
                <a:spcPct val="105000"/>
              </a:lnSpc>
              <a:buNone/>
            </a:pPr>
            <a:r>
              <a:rPr lang="en-US" sz="1900" b="1" dirty="0">
                <a:solidFill>
                  <a:srgbClr val="1E2761"/>
                </a:solidFill>
                <a:latin typeface="Cambria" pitchFamily="34" charset="0"/>
                <a:ea typeface="Cambria" pitchFamily="34" charset="-122"/>
                <a:cs typeface="Cambria" pitchFamily="34" charset="-120"/>
              </a:rPr>
              <a:t>Feature Engineering</a:t>
            </a:r>
            <a:endParaRPr lang="en-US" sz="1900" dirty="0"/>
          </a:p>
        </p:txBody>
      </p:sp>
      <p:sp>
        <p:nvSpPr>
          <p:cNvPr id="11" name="Text 7"/>
          <p:cNvSpPr/>
          <p:nvPr/>
        </p:nvSpPr>
        <p:spPr>
          <a:xfrm>
            <a:off x="960120" y="3246120"/>
            <a:ext cx="4663440" cy="1371600"/>
          </a:xfrm>
          <a:prstGeom prst="rect">
            <a:avLst/>
          </a:prstGeom>
          <a:noFill/>
          <a:ln/>
        </p:spPr>
        <p:txBody>
          <a:bodyPr wrap="square" lIns="0" tIns="0" rIns="0" bIns="0" rtlCol="0" anchor="ctr"/>
          <a:lstStyle/>
          <a:p>
            <a:pPr marL="0" indent="0">
              <a:lnSpc>
                <a:spcPct val="125000"/>
              </a:lnSpc>
              <a:buNone/>
            </a:pPr>
            <a:r>
              <a:rPr lang="en-US" sz="1350" dirty="0">
                <a:solidFill>
                  <a:srgbClr val="1B2140"/>
                </a:solidFill>
                <a:latin typeface="Calibri" pitchFamily="34" charset="0"/>
                <a:ea typeface="Calibri" pitchFamily="34" charset="-122"/>
                <a:cs typeface="Calibri" pitchFamily="34" charset="-120"/>
              </a:rPr>
              <a:t>A 1,200-row retail order export is cleaned, checked for outliers with the IQR rule, and expanded with 6 engineered features ready for analysis.</a:t>
            </a:r>
            <a:endParaRPr lang="en-US" sz="1350" dirty="0"/>
          </a:p>
        </p:txBody>
      </p:sp>
      <p:sp>
        <p:nvSpPr>
          <p:cNvPr id="12" name="Shape 8"/>
          <p:cNvSpPr/>
          <p:nvPr/>
        </p:nvSpPr>
        <p:spPr>
          <a:xfrm>
            <a:off x="960120" y="4892040"/>
            <a:ext cx="4526280" cy="548640"/>
          </a:xfrm>
          <a:prstGeom prst="roundRect">
            <a:avLst>
              <a:gd name="adj" fmla="val 10000"/>
            </a:avLst>
          </a:prstGeom>
          <a:solidFill>
            <a:srgbClr val="FFFFFF"/>
          </a:solidFill>
          <a:ln/>
        </p:spPr>
        <p:txBody>
          <a:bodyPr/>
          <a:lstStyle/>
          <a:p>
            <a:endParaRPr lang="en-US"/>
          </a:p>
        </p:txBody>
      </p:sp>
      <p:sp>
        <p:nvSpPr>
          <p:cNvPr id="13" name="Text 9"/>
          <p:cNvSpPr/>
          <p:nvPr/>
        </p:nvSpPr>
        <p:spPr>
          <a:xfrm>
            <a:off x="960120" y="4892040"/>
            <a:ext cx="4526280" cy="54864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1,200 orders   |   14 → 20 columns</a:t>
            </a:r>
            <a:endParaRPr lang="en-US" sz="1300" dirty="0"/>
          </a:p>
        </p:txBody>
      </p:sp>
      <p:sp>
        <p:nvSpPr>
          <p:cNvPr id="14" name="Shape 10"/>
          <p:cNvSpPr/>
          <p:nvPr/>
        </p:nvSpPr>
        <p:spPr>
          <a:xfrm>
            <a:off x="6291072" y="1691640"/>
            <a:ext cx="5257800" cy="3977640"/>
          </a:xfrm>
          <a:prstGeom prst="roundRect">
            <a:avLst>
              <a:gd name="adj" fmla="val 1839"/>
            </a:avLst>
          </a:prstGeom>
          <a:solidFill>
            <a:srgbClr val="EEF3FC"/>
          </a:solidFill>
          <a:ln/>
          <a:effectLst>
            <a:outerShdw blurRad="76200" dist="25400" dir="5400000" algn="bl" rotWithShape="0">
              <a:srgbClr val="0B1330">
                <a:alpha val="12000"/>
              </a:srgbClr>
            </a:outerShdw>
          </a:effectLst>
        </p:spPr>
        <p:txBody>
          <a:bodyPr/>
          <a:lstStyle/>
          <a:p>
            <a:endParaRPr lang="en-US"/>
          </a:p>
        </p:txBody>
      </p:sp>
      <p:sp>
        <p:nvSpPr>
          <p:cNvPr id="15" name="Shape 11"/>
          <p:cNvSpPr/>
          <p:nvPr/>
        </p:nvSpPr>
        <p:spPr>
          <a:xfrm>
            <a:off x="6611112" y="2011680"/>
            <a:ext cx="685800" cy="685800"/>
          </a:xfrm>
          <a:prstGeom prst="ellipse">
            <a:avLst/>
          </a:prstGeom>
          <a:solidFill>
            <a:srgbClr val="1E2761"/>
          </a:solidFill>
          <a:ln/>
        </p:spPr>
        <p:txBody>
          <a:bodyPr/>
          <a:lstStyle/>
          <a:p>
            <a:endParaRPr lang="en-US"/>
          </a:p>
        </p:txBody>
      </p:sp>
      <p:pic>
        <p:nvPicPr>
          <p:cNvPr id="16" name="Image 2" descr="/home/claude/decodelabs_deck/assets/shield_white.png"/>
          <p:cNvPicPr>
            <a:picLocks noChangeAspect="1"/>
          </p:cNvPicPr>
          <p:nvPr/>
        </p:nvPicPr>
        <p:blipFill>
          <a:blip r:embed="rId5"/>
          <a:stretch>
            <a:fillRect/>
          </a:stretch>
        </p:blipFill>
        <p:spPr>
          <a:xfrm>
            <a:off x="6775704" y="2176272"/>
            <a:ext cx="356616" cy="356616"/>
          </a:xfrm>
          <a:prstGeom prst="rect">
            <a:avLst/>
          </a:prstGeom>
        </p:spPr>
      </p:pic>
      <p:sp>
        <p:nvSpPr>
          <p:cNvPr id="17" name="Text 12"/>
          <p:cNvSpPr/>
          <p:nvPr/>
        </p:nvSpPr>
        <p:spPr>
          <a:xfrm>
            <a:off x="7434072" y="2048256"/>
            <a:ext cx="3657600" cy="274320"/>
          </a:xfrm>
          <a:prstGeom prst="rect">
            <a:avLst/>
          </a:prstGeom>
          <a:noFill/>
          <a:ln/>
        </p:spPr>
        <p:txBody>
          <a:bodyPr wrap="square" lIns="0" tIns="0" rIns="0" bIns="0"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TASK 2</a:t>
            </a:r>
            <a:endParaRPr lang="en-US" sz="1200" dirty="0"/>
          </a:p>
        </p:txBody>
      </p:sp>
      <p:sp>
        <p:nvSpPr>
          <p:cNvPr id="18" name="Text 13"/>
          <p:cNvSpPr/>
          <p:nvPr/>
        </p:nvSpPr>
        <p:spPr>
          <a:xfrm>
            <a:off x="7434072" y="2286000"/>
            <a:ext cx="3931920" cy="822960"/>
          </a:xfrm>
          <a:prstGeom prst="rect">
            <a:avLst/>
          </a:prstGeom>
          <a:noFill/>
          <a:ln/>
        </p:spPr>
        <p:txBody>
          <a:bodyPr wrap="square" lIns="0" tIns="0" rIns="0" bIns="0" rtlCol="0" anchor="ctr"/>
          <a:lstStyle/>
          <a:p>
            <a:pPr marL="0" indent="0">
              <a:lnSpc>
                <a:spcPct val="105000"/>
              </a:lnSpc>
              <a:buNone/>
            </a:pPr>
            <a:r>
              <a:rPr lang="en-US" sz="1900" b="1" dirty="0">
                <a:solidFill>
                  <a:srgbClr val="1E2761"/>
                </a:solidFill>
                <a:latin typeface="Cambria" pitchFamily="34" charset="0"/>
                <a:ea typeface="Cambria" pitchFamily="34" charset="-122"/>
                <a:cs typeface="Cambria" pitchFamily="34" charset="-120"/>
              </a:rPr>
              <a:t>Credit Card</a:t>
            </a:r>
            <a:endParaRPr lang="en-US" sz="1900" dirty="0"/>
          </a:p>
          <a:p>
            <a:pPr marL="0" indent="0">
              <a:lnSpc>
                <a:spcPct val="105000"/>
              </a:lnSpc>
              <a:buNone/>
            </a:pPr>
            <a:r>
              <a:rPr lang="en-US" sz="1900" b="1" dirty="0">
                <a:solidFill>
                  <a:srgbClr val="1E2761"/>
                </a:solidFill>
                <a:latin typeface="Cambria" pitchFamily="34" charset="0"/>
                <a:ea typeface="Cambria" pitchFamily="34" charset="-122"/>
                <a:cs typeface="Cambria" pitchFamily="34" charset="-120"/>
              </a:rPr>
              <a:t>Fraud Detection</a:t>
            </a:r>
            <a:endParaRPr lang="en-US" sz="1900" dirty="0"/>
          </a:p>
        </p:txBody>
      </p:sp>
      <p:sp>
        <p:nvSpPr>
          <p:cNvPr id="19" name="Text 14"/>
          <p:cNvSpPr/>
          <p:nvPr/>
        </p:nvSpPr>
        <p:spPr>
          <a:xfrm>
            <a:off x="6611112" y="3246120"/>
            <a:ext cx="4663440" cy="1371600"/>
          </a:xfrm>
          <a:prstGeom prst="rect">
            <a:avLst/>
          </a:prstGeom>
          <a:noFill/>
          <a:ln/>
        </p:spPr>
        <p:txBody>
          <a:bodyPr wrap="square" lIns="0" tIns="0" rIns="0" bIns="0" rtlCol="0" anchor="ctr"/>
          <a:lstStyle/>
          <a:p>
            <a:pPr marL="0" indent="0">
              <a:lnSpc>
                <a:spcPct val="125000"/>
              </a:lnSpc>
              <a:buNone/>
            </a:pPr>
            <a:r>
              <a:rPr lang="en-US" sz="1350" dirty="0">
                <a:solidFill>
                  <a:srgbClr val="1B2140"/>
                </a:solidFill>
                <a:latin typeface="Calibri" pitchFamily="34" charset="0"/>
                <a:ea typeface="Calibri" pitchFamily="34" charset="-122"/>
                <a:cs typeface="Calibri" pitchFamily="34" charset="-120"/>
              </a:rPr>
              <a:t>Two machine learning models are trained and compared to catch fraud among 284,807 transactions, only 0.173% of which are fraudulent.</a:t>
            </a:r>
            <a:endParaRPr lang="en-US" sz="1350" dirty="0"/>
          </a:p>
        </p:txBody>
      </p:sp>
      <p:sp>
        <p:nvSpPr>
          <p:cNvPr id="20" name="Shape 15"/>
          <p:cNvSpPr/>
          <p:nvPr/>
        </p:nvSpPr>
        <p:spPr>
          <a:xfrm>
            <a:off x="6611112" y="4892040"/>
            <a:ext cx="4526280" cy="548640"/>
          </a:xfrm>
          <a:prstGeom prst="roundRect">
            <a:avLst>
              <a:gd name="adj" fmla="val 10000"/>
            </a:avLst>
          </a:prstGeom>
          <a:solidFill>
            <a:srgbClr val="FFFFFF"/>
          </a:solidFill>
          <a:ln/>
        </p:spPr>
        <p:txBody>
          <a:bodyPr/>
          <a:lstStyle/>
          <a:p>
            <a:endParaRPr lang="en-US"/>
          </a:p>
        </p:txBody>
      </p:sp>
      <p:sp>
        <p:nvSpPr>
          <p:cNvPr id="21" name="Text 16"/>
          <p:cNvSpPr/>
          <p:nvPr/>
        </p:nvSpPr>
        <p:spPr>
          <a:xfrm>
            <a:off x="6611112" y="4892040"/>
            <a:ext cx="4526280" cy="54864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284,807 transactions   |   2 models compared</a:t>
            </a:r>
            <a:endParaRPr lang="en-US" sz="1300" dirty="0"/>
          </a:p>
        </p:txBody>
      </p:sp>
      <p:sp>
        <p:nvSpPr>
          <p:cNvPr id="22" name="Text 17"/>
          <p:cNvSpPr/>
          <p:nvPr/>
        </p:nvSpPr>
        <p:spPr>
          <a:xfrm>
            <a:off x="548640" y="6528816"/>
            <a:ext cx="7772400" cy="274320"/>
          </a:xfrm>
          <a:prstGeom prst="rect">
            <a:avLst/>
          </a:prstGeom>
          <a:noFill/>
          <a:ln/>
        </p:spPr>
        <p:txBody>
          <a:bodyPr wrap="square" lIns="0" tIns="0" rIns="0" bIns="0" rtlCol="0" anchor="ctr"/>
          <a:lstStyle/>
          <a:p>
            <a:pPr marL="0" indent="0" algn="l">
              <a:buNone/>
            </a:pPr>
            <a:r>
              <a:rPr lang="en-US" sz="900" kern="0" spc="100" dirty="0">
                <a:solidFill>
                  <a:srgbClr val="6B7A9E"/>
                </a:solidFill>
                <a:latin typeface="Calibri" pitchFamily="34" charset="0"/>
                <a:ea typeface="Calibri" pitchFamily="34" charset="-122"/>
                <a:cs typeface="Calibri" pitchFamily="34" charset="-120"/>
              </a:rPr>
              <a:t>YASHIL  ·  DECODELABS DATA SCIENCE INTERNSHIP</a:t>
            </a:r>
            <a:endParaRPr lang="en-US" sz="900" dirty="0"/>
          </a:p>
        </p:txBody>
      </p:sp>
      <p:sp>
        <p:nvSpPr>
          <p:cNvPr id="23" name="Text 18"/>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900" dirty="0">
                <a:solidFill>
                  <a:srgbClr val="6B7A9E"/>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412480" y="2377440"/>
            <a:ext cx="5669280" cy="5669280"/>
          </a:xfrm>
          <a:prstGeom prst="ellipse">
            <a:avLst/>
          </a:prstGeom>
          <a:solidFill>
            <a:srgbClr val="CADCFC">
              <a:alpha val="10000"/>
            </a:srgbClr>
          </a:solidFill>
          <a:ln/>
        </p:spPr>
        <p:txBody>
          <a:bodyPr/>
          <a:lstStyle/>
          <a:p>
            <a:endParaRPr lang="en-US"/>
          </a:p>
        </p:txBody>
      </p:sp>
      <p:sp>
        <p:nvSpPr>
          <p:cNvPr id="3" name="Shape 1"/>
          <p:cNvSpPr/>
          <p:nvPr/>
        </p:nvSpPr>
        <p:spPr>
          <a:xfrm>
            <a:off x="9692640" y="4160520"/>
            <a:ext cx="1828800" cy="1828800"/>
          </a:xfrm>
          <a:prstGeom prst="ellipse">
            <a:avLst/>
          </a:prstGeom>
          <a:solidFill>
            <a:srgbClr val="141B47"/>
          </a:solidFill>
          <a:ln/>
        </p:spPr>
        <p:txBody>
          <a:bodyPr/>
          <a:lstStyle/>
          <a:p>
            <a:endParaRPr lang="en-US"/>
          </a:p>
        </p:txBody>
      </p:sp>
      <p:pic>
        <p:nvPicPr>
          <p:cNvPr id="4" name="Image 0" descr="/home/claude/decodelabs_deck/assets/filter_amber.png"/>
          <p:cNvPicPr>
            <a:picLocks noChangeAspect="1"/>
          </p:cNvPicPr>
          <p:nvPr/>
        </p:nvPicPr>
        <p:blipFill>
          <a:blip r:embed="rId3"/>
          <a:stretch>
            <a:fillRect/>
          </a:stretch>
        </p:blipFill>
        <p:spPr>
          <a:xfrm>
            <a:off x="10149840" y="4617720"/>
            <a:ext cx="914400" cy="914400"/>
          </a:xfrm>
          <a:prstGeom prst="rect">
            <a:avLst/>
          </a:prstGeom>
        </p:spPr>
      </p:pic>
      <p:sp>
        <p:nvSpPr>
          <p:cNvPr id="5" name="Text 2"/>
          <p:cNvSpPr/>
          <p:nvPr/>
        </p:nvSpPr>
        <p:spPr>
          <a:xfrm>
            <a:off x="731520" y="2331720"/>
            <a:ext cx="5486400" cy="365760"/>
          </a:xfrm>
          <a:prstGeom prst="rect">
            <a:avLst/>
          </a:prstGeom>
          <a:noFill/>
          <a:ln/>
        </p:spPr>
        <p:txBody>
          <a:bodyPr wrap="square" lIns="0" tIns="0" rIns="0" bIns="0" rtlCol="0" anchor="ctr"/>
          <a:lstStyle/>
          <a:p>
            <a:pPr marL="0" indent="0">
              <a:buNone/>
            </a:pPr>
            <a:r>
              <a:rPr lang="en-US" sz="1500" b="1" kern="0" spc="200" dirty="0">
                <a:solidFill>
                  <a:srgbClr val="F4A300"/>
                </a:solidFill>
                <a:latin typeface="Calibri" pitchFamily="34" charset="0"/>
                <a:ea typeface="Calibri" pitchFamily="34" charset="-122"/>
                <a:cs typeface="Calibri" pitchFamily="34" charset="-120"/>
              </a:rPr>
              <a:t>PART ONE</a:t>
            </a:r>
            <a:endParaRPr lang="en-US" sz="1500" dirty="0"/>
          </a:p>
        </p:txBody>
      </p:sp>
      <p:sp>
        <p:nvSpPr>
          <p:cNvPr id="6" name="Text 3"/>
          <p:cNvSpPr/>
          <p:nvPr/>
        </p:nvSpPr>
        <p:spPr>
          <a:xfrm>
            <a:off x="713232" y="2743200"/>
            <a:ext cx="8686800" cy="1645920"/>
          </a:xfrm>
          <a:prstGeom prst="rect">
            <a:avLst/>
          </a:prstGeom>
          <a:noFill/>
          <a:ln/>
        </p:spPr>
        <p:txBody>
          <a:bodyPr wrap="square" lIns="0" tIns="0" rIns="0" bIns="0" rtlCol="0" anchor="ctr"/>
          <a:lstStyle/>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Task 1: Data Cleaning &amp;</a:t>
            </a:r>
            <a:endParaRPr lang="en-US" sz="3800" dirty="0"/>
          </a:p>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Feature Engineering</a:t>
            </a:r>
            <a:endParaRPr lang="en-US" sz="3800" dirty="0"/>
          </a:p>
        </p:txBody>
      </p:sp>
      <p:sp>
        <p:nvSpPr>
          <p:cNvPr id="7" name="Text 4"/>
          <p:cNvSpPr/>
          <p:nvPr/>
        </p:nvSpPr>
        <p:spPr>
          <a:xfrm>
            <a:off x="731520" y="4251960"/>
            <a:ext cx="7772400" cy="45720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Turning a messy 1,200-row retail export into an analysis-ready dataset</a:t>
            </a:r>
            <a:endParaRPr lang="en-US" sz="1600" dirty="0"/>
          </a:p>
        </p:txBody>
      </p:sp>
      <p:sp>
        <p:nvSpPr>
          <p:cNvPr id="8" name="Text 5"/>
          <p:cNvSpPr/>
          <p:nvPr/>
        </p:nvSpPr>
        <p:spPr>
          <a:xfrm>
            <a:off x="548640" y="6528816"/>
            <a:ext cx="7772400" cy="274320"/>
          </a:xfrm>
          <a:prstGeom prst="rect">
            <a:avLst/>
          </a:prstGeom>
          <a:noFill/>
          <a:ln/>
        </p:spPr>
        <p:txBody>
          <a:bodyPr wrap="square" lIns="0" tIns="0" rIns="0" bIns="0" rtlCol="0" anchor="ctr"/>
          <a:lstStyle/>
          <a:p>
            <a:pPr marL="0" indent="0" algn="l">
              <a:buNone/>
            </a:pPr>
            <a:r>
              <a:rPr lang="en-US" sz="900" kern="0" spc="100" dirty="0">
                <a:solidFill>
                  <a:srgbClr val="CADCFC"/>
                </a:solidFill>
                <a:latin typeface="Calibri" pitchFamily="34" charset="0"/>
                <a:ea typeface="Calibri" pitchFamily="34" charset="-122"/>
                <a:cs typeface="Calibri" pitchFamily="34" charset="-120"/>
              </a:rPr>
              <a:t>YASHIL  ·  DECODELABS DATA SCIENCE INTERNSHIP</a:t>
            </a:r>
            <a:endParaRPr lang="en-US" sz="900" dirty="0"/>
          </a:p>
        </p:txBody>
      </p:sp>
      <p:sp>
        <p:nvSpPr>
          <p:cNvPr id="9" name="Text 6"/>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601200" cy="292608"/>
          </a:xfrm>
          <a:prstGeom prst="rect">
            <a:avLst/>
          </a:prstGeom>
          <a:noFill/>
          <a:ln/>
        </p:spPr>
        <p:txBody>
          <a:bodyPr wrap="square" lIns="0" tIns="0" rIns="0" bIns="0"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TASK 1 · THE DATASET</a:t>
            </a:r>
            <a:endParaRPr lang="en-US" sz="1200" dirty="0"/>
          </a:p>
        </p:txBody>
      </p:sp>
      <p:sp>
        <p:nvSpPr>
          <p:cNvPr id="3" name="Text 1"/>
          <p:cNvSpPr/>
          <p:nvPr/>
        </p:nvSpPr>
        <p:spPr>
          <a:xfrm>
            <a:off x="640080" y="658368"/>
            <a:ext cx="9784080" cy="640080"/>
          </a:xfrm>
          <a:prstGeom prst="rect">
            <a:avLst/>
          </a:prstGeom>
          <a:noFill/>
          <a:ln/>
        </p:spPr>
        <p:txBody>
          <a:bodyPr wrap="square" lIns="0" tIns="0" rIns="0" bIns="0" rtlCol="0" anchor="t"/>
          <a:lstStyle/>
          <a:p>
            <a:pPr marL="0" indent="0">
              <a:buNone/>
            </a:pPr>
            <a:r>
              <a:rPr lang="en-US" sz="2800" b="1" dirty="0">
                <a:solidFill>
                  <a:srgbClr val="1E2761"/>
                </a:solidFill>
                <a:latin typeface="Cambria" pitchFamily="34" charset="0"/>
                <a:ea typeface="Cambria" pitchFamily="34" charset="-122"/>
                <a:cs typeface="Cambria" pitchFamily="34" charset="-120"/>
              </a:rPr>
              <a:t>Dataset for Data Analytics.xlsx</a:t>
            </a:r>
            <a:endParaRPr lang="en-US" sz="2800" dirty="0"/>
          </a:p>
        </p:txBody>
      </p:sp>
      <p:sp>
        <p:nvSpPr>
          <p:cNvPr id="4" name="Shape 2"/>
          <p:cNvSpPr/>
          <p:nvPr/>
        </p:nvSpPr>
        <p:spPr>
          <a:xfrm>
            <a:off x="10817352" y="502920"/>
            <a:ext cx="777240" cy="777240"/>
          </a:xfrm>
          <a:prstGeom prst="ellipse">
            <a:avLst/>
          </a:prstGeom>
          <a:solidFill>
            <a:srgbClr val="1E2761"/>
          </a:solidFill>
          <a:ln/>
        </p:spPr>
        <p:txBody>
          <a:bodyPr/>
          <a:lstStyle/>
          <a:p>
            <a:endParaRPr lang="en-US"/>
          </a:p>
        </p:txBody>
      </p:sp>
      <p:pic>
        <p:nvPicPr>
          <p:cNvPr id="5" name="Image 0" descr="/home/claude/decodelabs_deck/assets/database_white.png"/>
          <p:cNvPicPr>
            <a:picLocks noChangeAspect="1"/>
          </p:cNvPicPr>
          <p:nvPr/>
        </p:nvPicPr>
        <p:blipFill>
          <a:blip r:embed="rId3"/>
          <a:stretch>
            <a:fillRect/>
          </a:stretch>
        </p:blipFill>
        <p:spPr>
          <a:xfrm>
            <a:off x="11000232" y="685800"/>
            <a:ext cx="411480" cy="411480"/>
          </a:xfrm>
          <a:prstGeom prst="rect">
            <a:avLst/>
          </a:prstGeom>
        </p:spPr>
      </p:pic>
      <p:sp>
        <p:nvSpPr>
          <p:cNvPr id="6" name="Text 3"/>
          <p:cNvSpPr/>
          <p:nvPr/>
        </p:nvSpPr>
        <p:spPr>
          <a:xfrm>
            <a:off x="685800" y="1691640"/>
            <a:ext cx="3291840" cy="737006"/>
          </a:xfrm>
          <a:prstGeom prst="rect">
            <a:avLst/>
          </a:prstGeom>
          <a:noFill/>
          <a:ln/>
        </p:spPr>
        <p:txBody>
          <a:bodyPr wrap="square" lIns="0" tIns="0" rIns="0" bIns="0" rtlCol="0" anchor="b"/>
          <a:lstStyle/>
          <a:p>
            <a:pPr marL="0" indent="0" algn="l">
              <a:buNone/>
            </a:pPr>
            <a:r>
              <a:rPr lang="en-US" sz="4000" b="1" dirty="0">
                <a:solidFill>
                  <a:srgbClr val="1E2761"/>
                </a:solidFill>
                <a:latin typeface="Cambria" pitchFamily="34" charset="0"/>
                <a:ea typeface="Cambria" pitchFamily="34" charset="-122"/>
                <a:cs typeface="Cambria" pitchFamily="34" charset="-120"/>
              </a:rPr>
              <a:t>1,200</a:t>
            </a:r>
            <a:endParaRPr lang="en-US" sz="4000" dirty="0"/>
          </a:p>
        </p:txBody>
      </p:sp>
      <p:sp>
        <p:nvSpPr>
          <p:cNvPr id="7" name="Text 4"/>
          <p:cNvSpPr/>
          <p:nvPr/>
        </p:nvSpPr>
        <p:spPr>
          <a:xfrm>
            <a:off x="685800" y="2428646"/>
            <a:ext cx="3291840" cy="451714"/>
          </a:xfrm>
          <a:prstGeom prst="rect">
            <a:avLst/>
          </a:prstGeom>
          <a:noFill/>
          <a:ln/>
        </p:spPr>
        <p:txBody>
          <a:bodyPr wrap="square" lIns="0" tIns="0" rIns="0" bIns="0" rtlCol="0" anchor="t"/>
          <a:lstStyle/>
          <a:p>
            <a:pPr marL="0" indent="0" algn="l">
              <a:buNone/>
            </a:pPr>
            <a:r>
              <a:rPr lang="en-US" sz="1250" dirty="0">
                <a:solidFill>
                  <a:srgbClr val="6B7A9E"/>
                </a:solidFill>
                <a:latin typeface="Calibri" pitchFamily="34" charset="0"/>
                <a:ea typeface="Calibri" pitchFamily="34" charset="-122"/>
                <a:cs typeface="Calibri" pitchFamily="34" charset="-120"/>
              </a:rPr>
              <a:t>rows (orders)</a:t>
            </a:r>
            <a:endParaRPr lang="en-US" sz="1250" dirty="0"/>
          </a:p>
        </p:txBody>
      </p:sp>
      <p:sp>
        <p:nvSpPr>
          <p:cNvPr id="8" name="Text 5"/>
          <p:cNvSpPr/>
          <p:nvPr/>
        </p:nvSpPr>
        <p:spPr>
          <a:xfrm>
            <a:off x="4160520" y="1691640"/>
            <a:ext cx="3291840" cy="737006"/>
          </a:xfrm>
          <a:prstGeom prst="rect">
            <a:avLst/>
          </a:prstGeom>
          <a:noFill/>
          <a:ln/>
        </p:spPr>
        <p:txBody>
          <a:bodyPr wrap="square" lIns="0" tIns="0" rIns="0" bIns="0" rtlCol="0" anchor="b"/>
          <a:lstStyle/>
          <a:p>
            <a:pPr marL="0" indent="0" algn="l">
              <a:buNone/>
            </a:pPr>
            <a:r>
              <a:rPr lang="en-US" sz="4000" b="1" dirty="0">
                <a:solidFill>
                  <a:srgbClr val="1E2761"/>
                </a:solidFill>
                <a:latin typeface="Cambria" pitchFamily="34" charset="0"/>
                <a:ea typeface="Cambria" pitchFamily="34" charset="-122"/>
                <a:cs typeface="Cambria" pitchFamily="34" charset="-120"/>
              </a:rPr>
              <a:t>14</a:t>
            </a:r>
            <a:endParaRPr lang="en-US" sz="4000" dirty="0"/>
          </a:p>
        </p:txBody>
      </p:sp>
      <p:sp>
        <p:nvSpPr>
          <p:cNvPr id="9" name="Text 6"/>
          <p:cNvSpPr/>
          <p:nvPr/>
        </p:nvSpPr>
        <p:spPr>
          <a:xfrm>
            <a:off x="4160520" y="2428646"/>
            <a:ext cx="3291840" cy="451714"/>
          </a:xfrm>
          <a:prstGeom prst="rect">
            <a:avLst/>
          </a:prstGeom>
          <a:noFill/>
          <a:ln/>
        </p:spPr>
        <p:txBody>
          <a:bodyPr wrap="square" lIns="0" tIns="0" rIns="0" bIns="0" rtlCol="0" anchor="t"/>
          <a:lstStyle/>
          <a:p>
            <a:pPr marL="0" indent="0" algn="l">
              <a:buNone/>
            </a:pPr>
            <a:r>
              <a:rPr lang="en-US" sz="1250" dirty="0">
                <a:solidFill>
                  <a:srgbClr val="6B7A9E"/>
                </a:solidFill>
                <a:latin typeface="Calibri" pitchFamily="34" charset="0"/>
                <a:ea typeface="Calibri" pitchFamily="34" charset="-122"/>
                <a:cs typeface="Calibri" pitchFamily="34" charset="-120"/>
              </a:rPr>
              <a:t>raw columns</a:t>
            </a:r>
            <a:endParaRPr lang="en-US" sz="1250" dirty="0"/>
          </a:p>
        </p:txBody>
      </p:sp>
      <p:sp>
        <p:nvSpPr>
          <p:cNvPr id="10" name="Text 7"/>
          <p:cNvSpPr/>
          <p:nvPr/>
        </p:nvSpPr>
        <p:spPr>
          <a:xfrm>
            <a:off x="7635240" y="1691640"/>
            <a:ext cx="3840480" cy="737006"/>
          </a:xfrm>
          <a:prstGeom prst="rect">
            <a:avLst/>
          </a:prstGeom>
          <a:noFill/>
          <a:ln/>
        </p:spPr>
        <p:txBody>
          <a:bodyPr wrap="square" lIns="0" tIns="0" rIns="0" bIns="0" rtlCol="0" anchor="b"/>
          <a:lstStyle/>
          <a:p>
            <a:pPr marL="0" indent="0" algn="l">
              <a:buNone/>
            </a:pPr>
            <a:r>
              <a:rPr lang="en-US" sz="3200" b="1" dirty="0">
                <a:solidFill>
                  <a:srgbClr val="1E2761"/>
                </a:solidFill>
                <a:latin typeface="Cambria" pitchFamily="34" charset="0"/>
                <a:ea typeface="Cambria" pitchFamily="34" charset="-122"/>
                <a:cs typeface="Cambria" pitchFamily="34" charset="-120"/>
              </a:rPr>
              <a:t>2023–2025</a:t>
            </a:r>
            <a:endParaRPr lang="en-US" sz="3200" dirty="0"/>
          </a:p>
        </p:txBody>
      </p:sp>
      <p:sp>
        <p:nvSpPr>
          <p:cNvPr id="11" name="Text 8"/>
          <p:cNvSpPr/>
          <p:nvPr/>
        </p:nvSpPr>
        <p:spPr>
          <a:xfrm>
            <a:off x="7635240" y="2428646"/>
            <a:ext cx="3840480" cy="451714"/>
          </a:xfrm>
          <a:prstGeom prst="rect">
            <a:avLst/>
          </a:prstGeom>
          <a:noFill/>
          <a:ln/>
        </p:spPr>
        <p:txBody>
          <a:bodyPr wrap="square" lIns="0" tIns="0" rIns="0" bIns="0" rtlCol="0" anchor="t"/>
          <a:lstStyle/>
          <a:p>
            <a:pPr marL="0" indent="0" algn="l">
              <a:buNone/>
            </a:pPr>
            <a:r>
              <a:rPr lang="en-US" sz="1250" dirty="0">
                <a:solidFill>
                  <a:srgbClr val="6B7A9E"/>
                </a:solidFill>
                <a:latin typeface="Calibri" pitchFamily="34" charset="0"/>
                <a:ea typeface="Calibri" pitchFamily="34" charset="-122"/>
                <a:cs typeface="Calibri" pitchFamily="34" charset="-120"/>
              </a:rPr>
              <a:t>2023-01-01 to 2025-06-30</a:t>
            </a:r>
            <a:endParaRPr lang="en-US" sz="1250" dirty="0"/>
          </a:p>
        </p:txBody>
      </p:sp>
      <p:sp>
        <p:nvSpPr>
          <p:cNvPr id="12" name="Shape 9"/>
          <p:cNvSpPr/>
          <p:nvPr/>
        </p:nvSpPr>
        <p:spPr>
          <a:xfrm>
            <a:off x="685800" y="3063240"/>
            <a:ext cx="10789920" cy="2834640"/>
          </a:xfrm>
          <a:prstGeom prst="roundRect">
            <a:avLst>
              <a:gd name="adj" fmla="val 2581"/>
            </a:avLst>
          </a:prstGeom>
          <a:solidFill>
            <a:srgbClr val="EEF3FC"/>
          </a:solidFill>
          <a:ln/>
          <a:effectLst>
            <a:outerShdw blurRad="76200" dist="25400" dir="5400000" algn="bl" rotWithShape="0">
              <a:srgbClr val="0B1330">
                <a:alpha val="12000"/>
              </a:srgbClr>
            </a:outerShdw>
          </a:effectLst>
        </p:spPr>
        <p:txBody>
          <a:bodyPr/>
          <a:lstStyle/>
          <a:p>
            <a:endParaRPr lang="en-US"/>
          </a:p>
        </p:txBody>
      </p:sp>
      <p:sp>
        <p:nvSpPr>
          <p:cNvPr id="13" name="Text 10"/>
          <p:cNvSpPr/>
          <p:nvPr/>
        </p:nvSpPr>
        <p:spPr>
          <a:xfrm>
            <a:off x="1005840" y="3273552"/>
            <a:ext cx="5486400" cy="3200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Raw Columns (14)</a:t>
            </a:r>
            <a:endParaRPr lang="en-US" sz="1500" dirty="0"/>
          </a:p>
        </p:txBody>
      </p:sp>
      <p:sp>
        <p:nvSpPr>
          <p:cNvPr id="14" name="Text 11"/>
          <p:cNvSpPr/>
          <p:nvPr/>
        </p:nvSpPr>
        <p:spPr>
          <a:xfrm>
            <a:off x="1005840" y="3703320"/>
            <a:ext cx="4937760" cy="2057400"/>
          </a:xfrm>
          <a:prstGeom prst="rect">
            <a:avLst/>
          </a:prstGeom>
          <a:noFill/>
          <a:ln/>
        </p:spPr>
        <p:txBody>
          <a:bodyPr wrap="square" lIns="0" tIns="0" rIns="0" bIns="0" rtlCol="0" anchor="ctr"/>
          <a:lstStyle/>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OrderID</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Date</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CustomerID</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Product</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Quantity</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UnitPrice</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ShippingAddress</a:t>
            </a:r>
            <a:endParaRPr lang="en-US" sz="1400" dirty="0"/>
          </a:p>
        </p:txBody>
      </p:sp>
      <p:sp>
        <p:nvSpPr>
          <p:cNvPr id="15" name="Text 12"/>
          <p:cNvSpPr/>
          <p:nvPr/>
        </p:nvSpPr>
        <p:spPr>
          <a:xfrm>
            <a:off x="6309360" y="3703320"/>
            <a:ext cx="4937760" cy="2057400"/>
          </a:xfrm>
          <a:prstGeom prst="rect">
            <a:avLst/>
          </a:prstGeom>
          <a:noFill/>
          <a:ln/>
        </p:spPr>
        <p:txBody>
          <a:bodyPr wrap="square" lIns="0" tIns="0" rIns="0" bIns="0" rtlCol="0" anchor="ctr"/>
          <a:lstStyle/>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PaymentMethod</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OrderStatus</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TrackingNumber</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ItemsInCart</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CouponCode</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ReferralSource</a:t>
            </a:r>
            <a:endParaRPr lang="en-US" sz="1400" dirty="0"/>
          </a:p>
          <a:p>
            <a:pPr marL="177800" indent="-177800">
              <a:lnSpc>
                <a:spcPct val="135000"/>
              </a:lnSpc>
              <a:buSzPct val="100000"/>
              <a:buChar char="●"/>
            </a:pPr>
            <a:r>
              <a:rPr lang="en-US" sz="1400" dirty="0">
                <a:solidFill>
                  <a:srgbClr val="1B2140"/>
                </a:solidFill>
                <a:latin typeface="Calibri" pitchFamily="34" charset="0"/>
                <a:ea typeface="Calibri" pitchFamily="34" charset="-122"/>
                <a:cs typeface="Calibri" pitchFamily="34" charset="-120"/>
              </a:rPr>
              <a:t>TotalPrice</a:t>
            </a:r>
            <a:endParaRPr lang="en-US" sz="1400" dirty="0"/>
          </a:p>
        </p:txBody>
      </p:sp>
      <p:sp>
        <p:nvSpPr>
          <p:cNvPr id="16" name="Text 13"/>
          <p:cNvSpPr/>
          <p:nvPr/>
        </p:nvSpPr>
        <p:spPr>
          <a:xfrm>
            <a:off x="548640" y="6528816"/>
            <a:ext cx="7772400" cy="274320"/>
          </a:xfrm>
          <a:prstGeom prst="rect">
            <a:avLst/>
          </a:prstGeom>
          <a:noFill/>
          <a:ln/>
        </p:spPr>
        <p:txBody>
          <a:bodyPr wrap="square" lIns="0" tIns="0" rIns="0" bIns="0" rtlCol="0" anchor="ctr"/>
          <a:lstStyle/>
          <a:p>
            <a:pPr marL="0" indent="0" algn="l">
              <a:buNone/>
            </a:pPr>
            <a:r>
              <a:rPr lang="en-US" sz="900" kern="0" spc="100" dirty="0">
                <a:solidFill>
                  <a:srgbClr val="6B7A9E"/>
                </a:solidFill>
                <a:latin typeface="Calibri" pitchFamily="34" charset="0"/>
                <a:ea typeface="Calibri" pitchFamily="34" charset="-122"/>
                <a:cs typeface="Calibri" pitchFamily="34" charset="-120"/>
              </a:rPr>
              <a:t>YASHIL  ·  DECODELABS DATA SCIENCE INTERNSHIP</a:t>
            </a:r>
            <a:endParaRPr lang="en-US" sz="900" dirty="0"/>
          </a:p>
        </p:txBody>
      </p:sp>
      <p:sp>
        <p:nvSpPr>
          <p:cNvPr id="17" name="Text 14"/>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900" dirty="0">
                <a:solidFill>
                  <a:srgbClr val="6B7A9E"/>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601200" cy="292608"/>
          </a:xfrm>
          <a:prstGeom prst="rect">
            <a:avLst/>
          </a:prstGeom>
          <a:noFill/>
          <a:ln/>
        </p:spPr>
        <p:txBody>
          <a:bodyPr wrap="square" lIns="0" tIns="0" rIns="0" bIns="0"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TASK 1 · DATA CLEANING</a:t>
            </a:r>
            <a:endParaRPr lang="en-US" sz="1200" dirty="0"/>
          </a:p>
        </p:txBody>
      </p:sp>
      <p:sp>
        <p:nvSpPr>
          <p:cNvPr id="3" name="Text 1"/>
          <p:cNvSpPr/>
          <p:nvPr/>
        </p:nvSpPr>
        <p:spPr>
          <a:xfrm>
            <a:off x="640080" y="658368"/>
            <a:ext cx="9784080" cy="640080"/>
          </a:xfrm>
          <a:prstGeom prst="rect">
            <a:avLst/>
          </a:prstGeom>
          <a:noFill/>
          <a:ln/>
        </p:spPr>
        <p:txBody>
          <a:bodyPr wrap="square" lIns="0" tIns="0" rIns="0" bIns="0" rtlCol="0" anchor="t"/>
          <a:lstStyle/>
          <a:p>
            <a:pPr marL="0" indent="0">
              <a:buNone/>
            </a:pPr>
            <a:r>
              <a:rPr lang="en-US" sz="2800" b="1" dirty="0">
                <a:solidFill>
                  <a:srgbClr val="1E2761"/>
                </a:solidFill>
                <a:latin typeface="Cambria" pitchFamily="34" charset="0"/>
                <a:ea typeface="Cambria" pitchFamily="34" charset="-122"/>
                <a:cs typeface="Cambria" pitchFamily="34" charset="-120"/>
              </a:rPr>
              <a:t>Missing Values &amp; Outlier Detection</a:t>
            </a:r>
            <a:endParaRPr lang="en-US" sz="2800" dirty="0"/>
          </a:p>
        </p:txBody>
      </p:sp>
      <p:sp>
        <p:nvSpPr>
          <p:cNvPr id="4" name="Shape 2"/>
          <p:cNvSpPr/>
          <p:nvPr/>
        </p:nvSpPr>
        <p:spPr>
          <a:xfrm>
            <a:off x="10817352" y="502920"/>
            <a:ext cx="777240" cy="777240"/>
          </a:xfrm>
          <a:prstGeom prst="ellipse">
            <a:avLst/>
          </a:prstGeom>
          <a:solidFill>
            <a:srgbClr val="1E2761"/>
          </a:solidFill>
          <a:ln/>
        </p:spPr>
        <p:txBody>
          <a:bodyPr/>
          <a:lstStyle/>
          <a:p>
            <a:endParaRPr lang="en-US"/>
          </a:p>
        </p:txBody>
      </p:sp>
      <p:pic>
        <p:nvPicPr>
          <p:cNvPr id="5" name="Image 0" descr="/home/claude/decodelabs_deck/assets/check_white.png"/>
          <p:cNvPicPr>
            <a:picLocks noChangeAspect="1"/>
          </p:cNvPicPr>
          <p:nvPr/>
        </p:nvPicPr>
        <p:blipFill>
          <a:blip r:embed="rId3"/>
          <a:stretch>
            <a:fillRect/>
          </a:stretch>
        </p:blipFill>
        <p:spPr>
          <a:xfrm>
            <a:off x="11000232" y="685800"/>
            <a:ext cx="411480" cy="411480"/>
          </a:xfrm>
          <a:prstGeom prst="rect">
            <a:avLst/>
          </a:prstGeom>
        </p:spPr>
      </p:pic>
      <p:sp>
        <p:nvSpPr>
          <p:cNvPr id="6" name="Shape 3"/>
          <p:cNvSpPr/>
          <p:nvPr/>
        </p:nvSpPr>
        <p:spPr>
          <a:xfrm>
            <a:off x="685800" y="1645920"/>
            <a:ext cx="10789920" cy="960120"/>
          </a:xfrm>
          <a:prstGeom prst="roundRect">
            <a:avLst>
              <a:gd name="adj" fmla="val 7619"/>
            </a:avLst>
          </a:prstGeom>
          <a:solidFill>
            <a:srgbClr val="EEF3FC"/>
          </a:solidFill>
          <a:ln/>
          <a:effectLst>
            <a:outerShdw blurRad="76200" dist="25400" dir="5400000" algn="bl" rotWithShape="0">
              <a:srgbClr val="0B1330">
                <a:alpha val="12000"/>
              </a:srgbClr>
            </a:outerShdw>
          </a:effectLst>
        </p:spPr>
        <p:txBody>
          <a:bodyPr/>
          <a:lstStyle/>
          <a:p>
            <a:endParaRPr lang="en-US"/>
          </a:p>
        </p:txBody>
      </p:sp>
      <p:sp>
        <p:nvSpPr>
          <p:cNvPr id="7" name="Text 4"/>
          <p:cNvSpPr/>
          <p:nvPr/>
        </p:nvSpPr>
        <p:spPr>
          <a:xfrm>
            <a:off x="960120" y="1645920"/>
            <a:ext cx="10241280" cy="960120"/>
          </a:xfrm>
          <a:prstGeom prst="rect">
            <a:avLst/>
          </a:prstGeom>
          <a:noFill/>
          <a:ln/>
        </p:spPr>
        <p:txBody>
          <a:bodyPr wrap="square" lIns="0" tIns="0" rIns="0" bIns="0" rtlCol="0" anchor="ctr"/>
          <a:lstStyle/>
          <a:p>
            <a:pPr marL="0" indent="0">
              <a:buNone/>
            </a:pPr>
            <a:r>
              <a:rPr lang="en-US" sz="2000" b="1" dirty="0">
                <a:solidFill>
                  <a:srgbClr val="F4A300"/>
                </a:solidFill>
                <a:latin typeface="Calibri" pitchFamily="34" charset="0"/>
                <a:ea typeface="Calibri" pitchFamily="34" charset="-122"/>
                <a:cs typeface="Calibri" pitchFamily="34" charset="-120"/>
              </a:rPr>
              <a:t>309</a:t>
            </a:r>
            <a:r>
              <a:rPr lang="en-US" sz="1400" dirty="0">
                <a:solidFill>
                  <a:srgbClr val="1B2140"/>
                </a:solidFill>
                <a:latin typeface="Calibri" pitchFamily="34" charset="0"/>
                <a:ea typeface="Calibri" pitchFamily="34" charset="-122"/>
                <a:cs typeface="Calibri" pitchFamily="34" charset="-120"/>
              </a:rPr>
              <a:t>  missing CouponCode values filled with </a:t>
            </a:r>
            <a:r>
              <a:rPr lang="en-US" sz="1400" b="1" dirty="0">
                <a:solidFill>
                  <a:srgbClr val="1E2761"/>
                </a:solidFill>
                <a:latin typeface="Calibri" pitchFamily="34" charset="0"/>
                <a:ea typeface="Calibri" pitchFamily="34" charset="-122"/>
                <a:cs typeface="Calibri" pitchFamily="34" charset="-120"/>
              </a:rPr>
              <a:t>"No Coupon"</a:t>
            </a:r>
            <a:r>
              <a:rPr lang="en-US" sz="1400" dirty="0">
                <a:solidFill>
                  <a:srgbClr val="6B7A9E"/>
                </a:solidFill>
                <a:latin typeface="Calibri" pitchFamily="34" charset="0"/>
                <a:ea typeface="Calibri" pitchFamily="34" charset="-122"/>
                <a:cs typeface="Calibri" pitchFamily="34" charset="-120"/>
              </a:rPr>
              <a:t>   →   </a:t>
            </a:r>
            <a:r>
              <a:rPr lang="en-US" sz="2000" b="1" dirty="0">
                <a:solidFill>
                  <a:srgbClr val="2E8B57"/>
                </a:solidFill>
                <a:latin typeface="Calibri" pitchFamily="34" charset="0"/>
                <a:ea typeface="Calibri" pitchFamily="34" charset="-122"/>
                <a:cs typeface="Calibri" pitchFamily="34" charset="-120"/>
              </a:rPr>
              <a:t>0</a:t>
            </a:r>
            <a:r>
              <a:rPr lang="en-US" sz="1400" dirty="0">
                <a:solidFill>
                  <a:srgbClr val="1B2140"/>
                </a:solidFill>
                <a:latin typeface="Calibri" pitchFamily="34" charset="0"/>
                <a:ea typeface="Calibri" pitchFamily="34" charset="-122"/>
                <a:cs typeface="Calibri" pitchFamily="34" charset="-120"/>
              </a:rPr>
              <a:t> missing values remain</a:t>
            </a:r>
            <a:endParaRPr lang="en-US" sz="2000" dirty="0"/>
          </a:p>
        </p:txBody>
      </p:sp>
      <p:sp>
        <p:nvSpPr>
          <p:cNvPr id="8" name="Text 5"/>
          <p:cNvSpPr/>
          <p:nvPr/>
        </p:nvSpPr>
        <p:spPr>
          <a:xfrm>
            <a:off x="685800" y="2788920"/>
            <a:ext cx="7315200" cy="3200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IQR Outlier Bounds (Q1 - 1.5×IQR  to  Q3 + 1.5×IQR)</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3154680"/>
          <a:ext cx="10789920" cy="1691640"/>
        </p:xfrm>
        <a:graphic>
          <a:graphicData uri="http://schemas.openxmlformats.org/drawingml/2006/table">
            <a:tbl>
              <a:tblPr/>
              <a:tblGrid>
                <a:gridCol w="23774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22910">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Column</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Lower Bound</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Upper Bound</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Actual Range</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Outliers Found</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22910">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Quantity</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7.0</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1 – 5</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E8B57"/>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2910">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UnitPrice</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3FC"/>
                    </a:solidFill>
                  </a:tcPr>
                </a:tc>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-317.20</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3FC"/>
                    </a:solidFill>
                  </a:tcPr>
                </a:tc>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1,024.83</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3FC"/>
                    </a:solidFill>
                  </a:tcPr>
                </a:tc>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11.39 – 699.93</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3FC"/>
                    </a:solidFill>
                  </a:tcPr>
                </a:tc>
                <a:tc>
                  <a:txBody>
                    <a:bodyPr/>
                    <a:lstStyle/>
                    <a:p>
                      <a:pPr marL="0" indent="0" algn="ctr">
                        <a:buNone/>
                      </a:pPr>
                      <a:r>
                        <a:rPr lang="en-US" sz="1250" b="1" dirty="0">
                          <a:solidFill>
                            <a:srgbClr val="2E8B57"/>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422910">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ItemsInCart</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11.5</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140"/>
                          </a:solidFill>
                          <a:latin typeface="Calibri" pitchFamily="34" charset="0"/>
                          <a:ea typeface="Calibri" pitchFamily="34" charset="-122"/>
                          <a:cs typeface="Calibri" pitchFamily="34" charset="-120"/>
                        </a:rPr>
                        <a:t>1 – 10</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E8B57"/>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6"/>
          <p:cNvSpPr/>
          <p:nvPr/>
        </p:nvSpPr>
        <p:spPr>
          <a:xfrm>
            <a:off x="685800" y="5074920"/>
            <a:ext cx="10789920" cy="822960"/>
          </a:xfrm>
          <a:prstGeom prst="roundRect">
            <a:avLst>
              <a:gd name="adj" fmla="val 8889"/>
            </a:avLst>
          </a:prstGeom>
          <a:solidFill>
            <a:srgbClr val="1E2761"/>
          </a:solidFill>
          <a:ln/>
          <a:effectLst>
            <a:outerShdw blurRad="76200" dist="25400" dir="5400000" algn="bl" rotWithShape="0">
              <a:srgbClr val="0B1330">
                <a:alpha val="12000"/>
              </a:srgbClr>
            </a:outerShdw>
          </a:effectLst>
        </p:spPr>
        <p:txBody>
          <a:bodyPr/>
          <a:lstStyle/>
          <a:p>
            <a:endParaRPr lang="en-US"/>
          </a:p>
        </p:txBody>
      </p:sp>
      <p:sp>
        <p:nvSpPr>
          <p:cNvPr id="11" name="Text 7"/>
          <p:cNvSpPr/>
          <p:nvPr/>
        </p:nvSpPr>
        <p:spPr>
          <a:xfrm>
            <a:off x="1005840" y="5074920"/>
            <a:ext cx="10149840" cy="822960"/>
          </a:xfrm>
          <a:prstGeom prst="rect">
            <a:avLst/>
          </a:prstGeom>
          <a:noFill/>
          <a:ln/>
        </p:spPr>
        <p:txBody>
          <a:bodyPr wrap="square" lIns="0" tIns="0" rIns="0" bIns="0" rtlCol="0" anchor="ctr"/>
          <a:lstStyle/>
          <a:p>
            <a:pPr marL="0" indent="0">
              <a:buNone/>
            </a:pPr>
            <a:r>
              <a:rPr lang="en-US" sz="1450" i="1" dirty="0">
                <a:solidFill>
                  <a:srgbClr val="FFFFFF"/>
                </a:solidFill>
                <a:latin typeface="Calibri" pitchFamily="34" charset="0"/>
                <a:ea typeface="Calibri" pitchFamily="34" charset="-122"/>
                <a:cs typeface="Calibri" pitchFamily="34" charset="-120"/>
              </a:rPr>
              <a:t>0 outliers found across all three columns — every value already falls inside its IQR bounds.</a:t>
            </a:r>
            <a:endParaRPr lang="en-US" sz="1450" dirty="0"/>
          </a:p>
        </p:txBody>
      </p:sp>
      <p:sp>
        <p:nvSpPr>
          <p:cNvPr id="12" name="Text 8"/>
          <p:cNvSpPr/>
          <p:nvPr/>
        </p:nvSpPr>
        <p:spPr>
          <a:xfrm>
            <a:off x="548640" y="6528816"/>
            <a:ext cx="7772400" cy="274320"/>
          </a:xfrm>
          <a:prstGeom prst="rect">
            <a:avLst/>
          </a:prstGeom>
          <a:noFill/>
          <a:ln/>
        </p:spPr>
        <p:txBody>
          <a:bodyPr wrap="square" lIns="0" tIns="0" rIns="0" bIns="0" rtlCol="0" anchor="ctr"/>
          <a:lstStyle/>
          <a:p>
            <a:pPr marL="0" indent="0" algn="l">
              <a:buNone/>
            </a:pPr>
            <a:r>
              <a:rPr lang="en-US" sz="900" kern="0" spc="100" dirty="0">
                <a:solidFill>
                  <a:srgbClr val="6B7A9E"/>
                </a:solidFill>
                <a:latin typeface="Calibri" pitchFamily="34" charset="0"/>
                <a:ea typeface="Calibri" pitchFamily="34" charset="-122"/>
                <a:cs typeface="Calibri" pitchFamily="34" charset="-120"/>
              </a:rPr>
              <a:t>YASHIL  ·  DECODELABS DATA SCIENCE INTERNSHIP</a:t>
            </a:r>
            <a:endParaRPr lang="en-US" sz="900" dirty="0"/>
          </a:p>
        </p:txBody>
      </p:sp>
      <p:sp>
        <p:nvSpPr>
          <p:cNvPr id="13" name="Text 9"/>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900" dirty="0">
                <a:solidFill>
                  <a:srgbClr val="6B7A9E"/>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601200" cy="292608"/>
          </a:xfrm>
          <a:prstGeom prst="rect">
            <a:avLst/>
          </a:prstGeom>
          <a:noFill/>
          <a:ln/>
        </p:spPr>
        <p:txBody>
          <a:bodyPr wrap="square" lIns="0" tIns="0" rIns="0" bIns="0"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TASK 1 · FEATURE ENGINEERING</a:t>
            </a:r>
            <a:endParaRPr lang="en-US" sz="1200" dirty="0"/>
          </a:p>
        </p:txBody>
      </p:sp>
      <p:sp>
        <p:nvSpPr>
          <p:cNvPr id="3" name="Text 1"/>
          <p:cNvSpPr/>
          <p:nvPr/>
        </p:nvSpPr>
        <p:spPr>
          <a:xfrm>
            <a:off x="640080" y="658368"/>
            <a:ext cx="9784080" cy="640080"/>
          </a:xfrm>
          <a:prstGeom prst="rect">
            <a:avLst/>
          </a:prstGeom>
          <a:noFill/>
          <a:ln/>
        </p:spPr>
        <p:txBody>
          <a:bodyPr wrap="square" lIns="0" tIns="0" rIns="0" bIns="0" rtlCol="0" anchor="t"/>
          <a:lstStyle/>
          <a:p>
            <a:pPr marL="0" indent="0">
              <a:buNone/>
            </a:pPr>
            <a:r>
              <a:rPr lang="en-US" sz="2800" b="1" dirty="0">
                <a:solidFill>
                  <a:srgbClr val="1E2761"/>
                </a:solidFill>
                <a:latin typeface="Cambria" pitchFamily="34" charset="0"/>
                <a:ea typeface="Cambria" pitchFamily="34" charset="-122"/>
                <a:cs typeface="Cambria" pitchFamily="34" charset="-120"/>
              </a:rPr>
              <a:t>New Features &amp; Final Output</a:t>
            </a:r>
            <a:endParaRPr lang="en-US" sz="2800" dirty="0"/>
          </a:p>
        </p:txBody>
      </p:sp>
      <p:sp>
        <p:nvSpPr>
          <p:cNvPr id="4" name="Shape 2"/>
          <p:cNvSpPr/>
          <p:nvPr/>
        </p:nvSpPr>
        <p:spPr>
          <a:xfrm>
            <a:off x="10817352" y="502920"/>
            <a:ext cx="777240" cy="777240"/>
          </a:xfrm>
          <a:prstGeom prst="ellipse">
            <a:avLst/>
          </a:prstGeom>
          <a:solidFill>
            <a:srgbClr val="1E2761"/>
          </a:solidFill>
          <a:ln/>
        </p:spPr>
        <p:txBody>
          <a:bodyPr/>
          <a:lstStyle/>
          <a:p>
            <a:endParaRPr lang="en-US"/>
          </a:p>
        </p:txBody>
      </p:sp>
      <p:pic>
        <p:nvPicPr>
          <p:cNvPr id="5" name="Image 0" descr="/home/claude/decodelabs_deck/assets/trending_white.png"/>
          <p:cNvPicPr>
            <a:picLocks noChangeAspect="1"/>
          </p:cNvPicPr>
          <p:nvPr/>
        </p:nvPicPr>
        <p:blipFill>
          <a:blip r:embed="rId3"/>
          <a:stretch>
            <a:fillRect/>
          </a:stretch>
        </p:blipFill>
        <p:spPr>
          <a:xfrm>
            <a:off x="11000232" y="685800"/>
            <a:ext cx="411480" cy="411480"/>
          </a:xfrm>
          <a:prstGeom prst="rect">
            <a:avLst/>
          </a:prstGeom>
        </p:spPr>
      </p:pic>
      <p:sp>
        <p:nvSpPr>
          <p:cNvPr id="6" name="Text 3"/>
          <p:cNvSpPr/>
          <p:nvPr/>
        </p:nvSpPr>
        <p:spPr>
          <a:xfrm>
            <a:off x="685800" y="1691640"/>
            <a:ext cx="3383280" cy="651967"/>
          </a:xfrm>
          <a:prstGeom prst="rect">
            <a:avLst/>
          </a:prstGeom>
          <a:noFill/>
          <a:ln/>
        </p:spPr>
        <p:txBody>
          <a:bodyPr wrap="square" lIns="0" tIns="0" rIns="0" bIns="0" rtlCol="0" anchor="b"/>
          <a:lstStyle/>
          <a:p>
            <a:pPr marL="0" indent="0" algn="l">
              <a:buNone/>
            </a:pPr>
            <a:r>
              <a:rPr lang="en-US" sz="4000" b="1" dirty="0">
                <a:solidFill>
                  <a:srgbClr val="1E2761"/>
                </a:solidFill>
                <a:latin typeface="Cambria" pitchFamily="34" charset="0"/>
                <a:ea typeface="Cambria" pitchFamily="34" charset="-122"/>
                <a:cs typeface="Cambria" pitchFamily="34" charset="-120"/>
              </a:rPr>
              <a:t>6</a:t>
            </a:r>
            <a:endParaRPr lang="en-US" sz="4000" dirty="0"/>
          </a:p>
        </p:txBody>
      </p:sp>
      <p:sp>
        <p:nvSpPr>
          <p:cNvPr id="7" name="Text 4"/>
          <p:cNvSpPr/>
          <p:nvPr/>
        </p:nvSpPr>
        <p:spPr>
          <a:xfrm>
            <a:off x="685800" y="2343607"/>
            <a:ext cx="3383280" cy="399593"/>
          </a:xfrm>
          <a:prstGeom prst="rect">
            <a:avLst/>
          </a:prstGeom>
          <a:noFill/>
          <a:ln/>
        </p:spPr>
        <p:txBody>
          <a:bodyPr wrap="square" lIns="0" tIns="0" rIns="0" bIns="0" rtlCol="0" anchor="t"/>
          <a:lstStyle/>
          <a:p>
            <a:pPr marL="0" indent="0" algn="l">
              <a:buNone/>
            </a:pPr>
            <a:r>
              <a:rPr lang="en-US" sz="1250" dirty="0">
                <a:solidFill>
                  <a:srgbClr val="6B7A9E"/>
                </a:solidFill>
                <a:latin typeface="Calibri" pitchFamily="34" charset="0"/>
                <a:ea typeface="Calibri" pitchFamily="34" charset="-122"/>
                <a:cs typeface="Calibri" pitchFamily="34" charset="-120"/>
              </a:rPr>
              <a:t>new engineered features</a:t>
            </a:r>
            <a:endParaRPr lang="en-US" sz="1250" dirty="0"/>
          </a:p>
        </p:txBody>
      </p:sp>
      <p:sp>
        <p:nvSpPr>
          <p:cNvPr id="8" name="Text 5"/>
          <p:cNvSpPr/>
          <p:nvPr/>
        </p:nvSpPr>
        <p:spPr>
          <a:xfrm>
            <a:off x="4160520" y="1691640"/>
            <a:ext cx="3383280" cy="651967"/>
          </a:xfrm>
          <a:prstGeom prst="rect">
            <a:avLst/>
          </a:prstGeom>
          <a:noFill/>
          <a:ln/>
        </p:spPr>
        <p:txBody>
          <a:bodyPr wrap="square" lIns="0" tIns="0" rIns="0" bIns="0" rtlCol="0" anchor="b"/>
          <a:lstStyle/>
          <a:p>
            <a:pPr marL="0" indent="0" algn="l">
              <a:buNone/>
            </a:pPr>
            <a:r>
              <a:rPr lang="en-US" sz="4000" b="1" dirty="0">
                <a:solidFill>
                  <a:srgbClr val="1E2761"/>
                </a:solidFill>
                <a:latin typeface="Cambria" pitchFamily="34" charset="0"/>
                <a:ea typeface="Cambria" pitchFamily="34" charset="-122"/>
                <a:cs typeface="Cambria" pitchFamily="34" charset="-120"/>
              </a:rPr>
              <a:t>300</a:t>
            </a:r>
            <a:endParaRPr lang="en-US" sz="4000" dirty="0"/>
          </a:p>
        </p:txBody>
      </p:sp>
      <p:sp>
        <p:nvSpPr>
          <p:cNvPr id="9" name="Text 6"/>
          <p:cNvSpPr/>
          <p:nvPr/>
        </p:nvSpPr>
        <p:spPr>
          <a:xfrm>
            <a:off x="4160520" y="2343607"/>
            <a:ext cx="3383280" cy="399593"/>
          </a:xfrm>
          <a:prstGeom prst="rect">
            <a:avLst/>
          </a:prstGeom>
          <a:noFill/>
          <a:ln/>
        </p:spPr>
        <p:txBody>
          <a:bodyPr wrap="square" lIns="0" tIns="0" rIns="0" bIns="0" rtlCol="0" anchor="t"/>
          <a:lstStyle/>
          <a:p>
            <a:pPr marL="0" indent="0" algn="l">
              <a:buNone/>
            </a:pPr>
            <a:r>
              <a:rPr lang="en-US" sz="1250" dirty="0">
                <a:solidFill>
                  <a:srgbClr val="6B7A9E"/>
                </a:solidFill>
                <a:latin typeface="Calibri" pitchFamily="34" charset="0"/>
                <a:ea typeface="Calibri" pitchFamily="34" charset="-122"/>
                <a:cs typeface="Calibri" pitchFamily="34" charset="-120"/>
              </a:rPr>
              <a:t>orders flagged high-value</a:t>
            </a:r>
            <a:endParaRPr lang="en-US" sz="1250" dirty="0"/>
          </a:p>
        </p:txBody>
      </p:sp>
      <p:sp>
        <p:nvSpPr>
          <p:cNvPr id="10" name="Text 7"/>
          <p:cNvSpPr/>
          <p:nvPr/>
        </p:nvSpPr>
        <p:spPr>
          <a:xfrm>
            <a:off x="7635240" y="1691640"/>
            <a:ext cx="3840480" cy="651967"/>
          </a:xfrm>
          <a:prstGeom prst="rect">
            <a:avLst/>
          </a:prstGeom>
          <a:noFill/>
          <a:ln/>
        </p:spPr>
        <p:txBody>
          <a:bodyPr wrap="square" lIns="0" tIns="0" rIns="0" bIns="0" rtlCol="0" anchor="b"/>
          <a:lstStyle/>
          <a:p>
            <a:pPr marL="0" indent="0" algn="l">
              <a:buNone/>
            </a:pPr>
            <a:r>
              <a:rPr lang="en-US" sz="4000" b="1" dirty="0">
                <a:solidFill>
                  <a:srgbClr val="1E2761"/>
                </a:solidFill>
                <a:latin typeface="Cambria" pitchFamily="34" charset="0"/>
                <a:ea typeface="Cambria" pitchFamily="34" charset="-122"/>
                <a:cs typeface="Cambria" pitchFamily="34" charset="-120"/>
              </a:rPr>
              <a:t>891</a:t>
            </a:r>
            <a:endParaRPr lang="en-US" sz="4000" dirty="0"/>
          </a:p>
        </p:txBody>
      </p:sp>
      <p:sp>
        <p:nvSpPr>
          <p:cNvPr id="11" name="Text 8"/>
          <p:cNvSpPr/>
          <p:nvPr/>
        </p:nvSpPr>
        <p:spPr>
          <a:xfrm>
            <a:off x="7635240" y="2343607"/>
            <a:ext cx="3840480" cy="399593"/>
          </a:xfrm>
          <a:prstGeom prst="rect">
            <a:avLst/>
          </a:prstGeom>
          <a:noFill/>
          <a:ln/>
        </p:spPr>
        <p:txBody>
          <a:bodyPr wrap="square" lIns="0" tIns="0" rIns="0" bIns="0" rtlCol="0" anchor="t"/>
          <a:lstStyle/>
          <a:p>
            <a:pPr marL="0" indent="0" algn="l">
              <a:buNone/>
            </a:pPr>
            <a:r>
              <a:rPr lang="en-US" sz="1250" dirty="0">
                <a:solidFill>
                  <a:srgbClr val="6B7A9E"/>
                </a:solidFill>
                <a:latin typeface="Calibri" pitchFamily="34" charset="0"/>
                <a:ea typeface="Calibri" pitchFamily="34" charset="-122"/>
                <a:cs typeface="Calibri" pitchFamily="34" charset="-120"/>
              </a:rPr>
              <a:t>orders used a coupon</a:t>
            </a:r>
            <a:endParaRPr lang="en-US" sz="1250" dirty="0"/>
          </a:p>
        </p:txBody>
      </p:sp>
      <p:graphicFrame>
        <p:nvGraphicFramePr>
          <p:cNvPr id="12" name="Chart 0"/>
          <p:cNvGraphicFramePr/>
          <p:nvPr/>
        </p:nvGraphicFramePr>
        <p:xfrm>
          <a:off x="685800" y="2880360"/>
          <a:ext cx="3429000" cy="30632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
          <p:cNvGraphicFramePr/>
          <p:nvPr/>
        </p:nvGraphicFramePr>
        <p:xfrm>
          <a:off x="4251960" y="2880360"/>
          <a:ext cx="3429000" cy="3063240"/>
        </p:xfrm>
        <a:graphic>
          <a:graphicData uri="http://schemas.openxmlformats.org/drawingml/2006/chart">
            <c:chart xmlns:c="http://schemas.openxmlformats.org/drawingml/2006/chart" xmlns:r="http://schemas.openxmlformats.org/officeDocument/2006/relationships" r:id="rId5"/>
          </a:graphicData>
        </a:graphic>
      </p:graphicFrame>
      <p:sp>
        <p:nvSpPr>
          <p:cNvPr id="14" name="Shape 9"/>
          <p:cNvSpPr/>
          <p:nvPr/>
        </p:nvSpPr>
        <p:spPr>
          <a:xfrm>
            <a:off x="8001000" y="2880360"/>
            <a:ext cx="3474720" cy="3063240"/>
          </a:xfrm>
          <a:prstGeom prst="roundRect">
            <a:avLst>
              <a:gd name="adj" fmla="val 2388"/>
            </a:avLst>
          </a:prstGeom>
          <a:solidFill>
            <a:srgbClr val="EEF3FC"/>
          </a:solidFill>
          <a:ln/>
          <a:effectLst>
            <a:outerShdw blurRad="76200" dist="25400" dir="5400000" algn="bl" rotWithShape="0">
              <a:srgbClr val="0B1330">
                <a:alpha val="12000"/>
              </a:srgbClr>
            </a:outerShdw>
          </a:effectLst>
        </p:spPr>
        <p:txBody>
          <a:bodyPr/>
          <a:lstStyle/>
          <a:p>
            <a:endParaRPr lang="en-US"/>
          </a:p>
        </p:txBody>
      </p:sp>
      <p:sp>
        <p:nvSpPr>
          <p:cNvPr id="15" name="Text 10"/>
          <p:cNvSpPr/>
          <p:nvPr/>
        </p:nvSpPr>
        <p:spPr>
          <a:xfrm>
            <a:off x="8275320" y="3108960"/>
            <a:ext cx="2926080" cy="2651760"/>
          </a:xfrm>
          <a:prstGeom prst="rect">
            <a:avLst/>
          </a:prstGeom>
          <a:noFill/>
          <a:ln/>
        </p:spPr>
        <p:txBody>
          <a:bodyPr wrap="square" lIns="0" tIns="0" rIns="0" bIns="0" rtlCol="0" anchor="t"/>
          <a:lstStyle/>
          <a:p>
            <a:pPr marL="0" indent="0">
              <a:lnSpc>
                <a:spcPct val="125000"/>
              </a:lnSpc>
              <a:buNone/>
            </a:pPr>
            <a:r>
              <a:rPr lang="en-US" sz="1200" b="1" dirty="0">
                <a:solidFill>
                  <a:srgbClr val="1E2761"/>
                </a:solidFill>
                <a:latin typeface="Calibri" pitchFamily="34" charset="0"/>
                <a:ea typeface="Calibri" pitchFamily="34" charset="-122"/>
                <a:cs typeface="Calibri" pitchFamily="34" charset="-120"/>
              </a:rPr>
              <a:t>High-value cutoff: </a:t>
            </a:r>
            <a:r>
              <a:rPr lang="en-US" sz="1200" dirty="0">
                <a:solidFill>
                  <a:srgbClr val="1B2140"/>
                </a:solidFill>
                <a:latin typeface="Calibri" pitchFamily="34" charset="0"/>
                <a:ea typeface="Calibri" pitchFamily="34" charset="-122"/>
                <a:cs typeface="Calibri" pitchFamily="34" charset="-120"/>
              </a:rPr>
              <a:t>1,578.48 (75th percentile of TotalPrice) — so 300 of 1,200 orders, exactly the top quarter, are flagged.</a:t>
            </a:r>
            <a:endParaRPr lang="en-US" sz="1200" dirty="0"/>
          </a:p>
          <a:p>
            <a:pPr marL="0" indent="0">
              <a:lnSpc>
                <a:spcPct val="125000"/>
              </a:lnSpc>
              <a:buNone/>
            </a:pPr>
            <a:endParaRPr lang="en-US" sz="1200" dirty="0"/>
          </a:p>
          <a:p>
            <a:pPr marL="0" indent="0">
              <a:lnSpc>
                <a:spcPct val="125000"/>
              </a:lnSpc>
              <a:buNone/>
            </a:pPr>
            <a:r>
              <a:rPr lang="en-US" sz="1200" b="1" dirty="0">
                <a:solidFill>
                  <a:srgbClr val="1E2761"/>
                </a:solidFill>
                <a:latin typeface="Calibri" pitchFamily="34" charset="0"/>
                <a:ea typeface="Calibri" pitchFamily="34" charset="-122"/>
                <a:cs typeface="Calibri" pitchFamily="34" charset="-120"/>
              </a:rPr>
              <a:t>891 + 309 = 1,200</a:t>
            </a:r>
            <a:endParaRPr lang="en-US" sz="1200" dirty="0"/>
          </a:p>
          <a:p>
            <a:pPr marL="0" indent="0">
              <a:lnSpc>
                <a:spcPct val="125000"/>
              </a:lnSpc>
              <a:buNone/>
            </a:pPr>
            <a:r>
              <a:rPr lang="en-US" sz="1200" dirty="0">
                <a:solidFill>
                  <a:srgbClr val="1B2140"/>
                </a:solidFill>
                <a:latin typeface="Calibri" pitchFamily="34" charset="0"/>
                <a:ea typeface="Calibri" pitchFamily="34" charset="-122"/>
                <a:cs typeface="Calibri" pitchFamily="34" charset="-120"/>
              </a:rPr>
              <a:t>every order either used a coupon or was filled with "No Coupon".</a:t>
            </a:r>
            <a:endParaRPr lang="en-US" sz="1200" dirty="0"/>
          </a:p>
          <a:p>
            <a:pPr marL="0" indent="0">
              <a:lnSpc>
                <a:spcPct val="125000"/>
              </a:lnSpc>
              <a:buNone/>
            </a:pPr>
            <a:endParaRPr lang="en-US" sz="1200" dirty="0"/>
          </a:p>
          <a:p>
            <a:pPr marL="0" indent="0">
              <a:lnSpc>
                <a:spcPct val="125000"/>
              </a:lnSpc>
              <a:buNone/>
            </a:pPr>
            <a:r>
              <a:rPr lang="en-US" sz="1200" b="1" dirty="0">
                <a:solidFill>
                  <a:srgbClr val="1E2761"/>
                </a:solidFill>
                <a:latin typeface="Calibri" pitchFamily="34" charset="0"/>
                <a:ea typeface="Calibri" pitchFamily="34" charset="-122"/>
                <a:cs typeface="Calibri" pitchFamily="34" charset="-120"/>
              </a:rPr>
              <a:t>Output: </a:t>
            </a:r>
            <a:endParaRPr lang="en-US" sz="1200" dirty="0"/>
          </a:p>
          <a:p>
            <a:pPr marL="0" indent="0">
              <a:lnSpc>
                <a:spcPct val="125000"/>
              </a:lnSpc>
              <a:buNone/>
            </a:pPr>
            <a:r>
              <a:rPr lang="en-US" sz="1200" dirty="0">
                <a:solidFill>
                  <a:srgbClr val="1B2140"/>
                </a:solidFill>
                <a:latin typeface="Calibri" pitchFamily="34" charset="0"/>
                <a:ea typeface="Calibri" pitchFamily="34" charset="-122"/>
                <a:cs typeface="Calibri" pitchFamily="34" charset="-120"/>
              </a:rPr>
              <a:t>cleaned_dataset.xlsx — 1,200 rows × 20 columns (14 original + 6 engineered).</a:t>
            </a:r>
            <a:endParaRPr lang="en-US" sz="1200" dirty="0"/>
          </a:p>
        </p:txBody>
      </p:sp>
      <p:sp>
        <p:nvSpPr>
          <p:cNvPr id="16" name="Text 11"/>
          <p:cNvSpPr/>
          <p:nvPr/>
        </p:nvSpPr>
        <p:spPr>
          <a:xfrm>
            <a:off x="548640" y="6528816"/>
            <a:ext cx="7772400" cy="274320"/>
          </a:xfrm>
          <a:prstGeom prst="rect">
            <a:avLst/>
          </a:prstGeom>
          <a:noFill/>
          <a:ln/>
        </p:spPr>
        <p:txBody>
          <a:bodyPr wrap="square" lIns="0" tIns="0" rIns="0" bIns="0" rtlCol="0" anchor="ctr"/>
          <a:lstStyle/>
          <a:p>
            <a:pPr marL="0" indent="0" algn="l">
              <a:buNone/>
            </a:pPr>
            <a:r>
              <a:rPr lang="en-US" sz="900" kern="0" spc="100" dirty="0">
                <a:solidFill>
                  <a:srgbClr val="6B7A9E"/>
                </a:solidFill>
                <a:latin typeface="Calibri" pitchFamily="34" charset="0"/>
                <a:ea typeface="Calibri" pitchFamily="34" charset="-122"/>
                <a:cs typeface="Calibri" pitchFamily="34" charset="-120"/>
              </a:rPr>
              <a:t>YASHIL  ·  DECODELABS DATA SCIENCE INTERNSHIP</a:t>
            </a:r>
            <a:endParaRPr lang="en-US" sz="900" dirty="0"/>
          </a:p>
        </p:txBody>
      </p:sp>
      <p:sp>
        <p:nvSpPr>
          <p:cNvPr id="17" name="Text 12"/>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900" dirty="0">
                <a:solidFill>
                  <a:srgbClr val="6B7A9E"/>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9601200" cy="292608"/>
          </a:xfrm>
          <a:prstGeom prst="rect">
            <a:avLst/>
          </a:prstGeom>
          <a:noFill/>
        </p:spPr>
        <p:txBody>
          <a:bodyPr wrap="square">
            <a:spAutoFit/>
          </a:bodyPr>
          <a:lstStyle/>
          <a:p>
            <a:r>
              <a:rPr sz="1200" b="1">
                <a:solidFill>
                  <a:srgbClr val="F4A300"/>
                </a:solidFill>
                <a:latin typeface="Calibri"/>
              </a:rPr>
              <a:t>TASK 1 · FEATURE ENGINEERING</a:t>
            </a:r>
          </a:p>
        </p:txBody>
      </p:sp>
      <p:sp>
        <p:nvSpPr>
          <p:cNvPr id="3" name="TextBox 2"/>
          <p:cNvSpPr txBox="1"/>
          <p:nvPr/>
        </p:nvSpPr>
        <p:spPr>
          <a:xfrm>
            <a:off x="640080" y="658368"/>
            <a:ext cx="9784080" cy="640080"/>
          </a:xfrm>
          <a:prstGeom prst="rect">
            <a:avLst/>
          </a:prstGeom>
          <a:noFill/>
        </p:spPr>
        <p:txBody>
          <a:bodyPr wrap="square">
            <a:spAutoFit/>
          </a:bodyPr>
          <a:lstStyle/>
          <a:p>
            <a:r>
              <a:rPr sz="2800" b="1">
                <a:solidFill>
                  <a:srgbClr val="1E2761"/>
                </a:solidFill>
                <a:latin typeface="Cambria"/>
              </a:rPr>
              <a:t>The Six Engineered Features</a:t>
            </a:r>
          </a:p>
        </p:txBody>
      </p:sp>
      <p:sp>
        <p:nvSpPr>
          <p:cNvPr id="4" name="TextBox 3"/>
          <p:cNvSpPr txBox="1"/>
          <p:nvPr/>
        </p:nvSpPr>
        <p:spPr>
          <a:xfrm>
            <a:off x="548640" y="6528816"/>
            <a:ext cx="7772400" cy="274320"/>
          </a:xfrm>
          <a:prstGeom prst="rect">
            <a:avLst/>
          </a:prstGeom>
          <a:noFill/>
        </p:spPr>
        <p:txBody>
          <a:bodyPr wrap="square">
            <a:spAutoFit/>
          </a:bodyPr>
          <a:lstStyle/>
          <a:p>
            <a:r>
              <a:rPr sz="900" b="0">
                <a:solidFill>
                  <a:srgbClr val="6B7A9E"/>
                </a:solidFill>
                <a:latin typeface="Calibri"/>
              </a:rPr>
              <a:t>YASHIL  ·  DECODELABS DATA SCIENCE INTERNSHIP</a:t>
            </a:r>
          </a:p>
        </p:txBody>
      </p:sp>
      <p:sp>
        <p:nvSpPr>
          <p:cNvPr id="5" name="TextBox 4"/>
          <p:cNvSpPr txBox="1"/>
          <p:nvPr/>
        </p:nvSpPr>
        <p:spPr>
          <a:xfrm>
            <a:off x="11183112" y="6528816"/>
            <a:ext cx="457200" cy="274320"/>
          </a:xfrm>
          <a:prstGeom prst="rect">
            <a:avLst/>
          </a:prstGeom>
          <a:noFill/>
        </p:spPr>
        <p:txBody>
          <a:bodyPr wrap="square">
            <a:spAutoFit/>
          </a:bodyPr>
          <a:lstStyle/>
          <a:p>
            <a:r>
              <a:rPr sz="900" b="0">
                <a:solidFill>
                  <a:srgbClr val="6B7A9E"/>
                </a:solidFill>
                <a:latin typeface="Calibri"/>
              </a:rPr>
              <a:t>07</a:t>
            </a:r>
          </a:p>
        </p:txBody>
      </p:sp>
      <p:graphicFrame>
        <p:nvGraphicFramePr>
          <p:cNvPr id="6" name="Table 5"/>
          <p:cNvGraphicFramePr>
            <a:graphicFrameLocks noGrp="1"/>
          </p:cNvGraphicFramePr>
          <p:nvPr/>
        </p:nvGraphicFramePr>
        <p:xfrm>
          <a:off x="685800" y="1760000"/>
          <a:ext cx="10820400" cy="3900000"/>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20000"/>
                    </a:ext>
                  </a:extLst>
                </a:gridCol>
                <a:gridCol w="3100000">
                  <a:extLst>
                    <a:ext uri="{9D8B030D-6E8A-4147-A177-3AD203B41FA5}">
                      <a16:colId xmlns:a16="http://schemas.microsoft.com/office/drawing/2014/main" val="20001"/>
                    </a:ext>
                  </a:extLst>
                </a:gridCol>
                <a:gridCol w="5020400">
                  <a:extLst>
                    <a:ext uri="{9D8B030D-6E8A-4147-A177-3AD203B41FA5}">
                      <a16:colId xmlns:a16="http://schemas.microsoft.com/office/drawing/2014/main" val="20002"/>
                    </a:ext>
                  </a:extLst>
                </a:gridCol>
              </a:tblGrid>
              <a:tr h="557142">
                <a:tc>
                  <a:txBody>
                    <a:bodyPr/>
                    <a:lstStyle/>
                    <a:p>
                      <a:r>
                        <a:rPr sz="1250" b="1">
                          <a:solidFill>
                            <a:srgbClr val="FFFFFF"/>
                          </a:solidFill>
                          <a:latin typeface="Calibri"/>
                        </a:rPr>
                        <a:t>Feature</a:t>
                      </a:r>
                    </a:p>
                  </a:txBody>
                  <a:tcPr>
                    <a:solidFill>
                      <a:srgbClr val="1E2761"/>
                    </a:solidFill>
                  </a:tcPr>
                </a:tc>
                <a:tc>
                  <a:txBody>
                    <a:bodyPr/>
                    <a:lstStyle/>
                    <a:p>
                      <a:r>
                        <a:rPr sz="1250" b="1">
                          <a:solidFill>
                            <a:srgbClr val="FFFFFF"/>
                          </a:solidFill>
                          <a:latin typeface="Calibri"/>
                        </a:rPr>
                        <a:t>Built from</a:t>
                      </a:r>
                    </a:p>
                  </a:txBody>
                  <a:tcPr>
                    <a:solidFill>
                      <a:srgbClr val="1E2761"/>
                    </a:solidFill>
                  </a:tcPr>
                </a:tc>
                <a:tc>
                  <a:txBody>
                    <a:bodyPr/>
                    <a:lstStyle/>
                    <a:p>
                      <a:r>
                        <a:rPr sz="1250" b="1">
                          <a:solidFill>
                            <a:srgbClr val="FFFFFF"/>
                          </a:solidFill>
                          <a:latin typeface="Calibri"/>
                        </a:rPr>
                        <a:t>What it captures</a:t>
                      </a:r>
                    </a:p>
                  </a:txBody>
                  <a:tcPr>
                    <a:solidFill>
                      <a:srgbClr val="1E2761"/>
                    </a:solidFill>
                  </a:tcPr>
                </a:tc>
                <a:extLst>
                  <a:ext uri="{0D108BD9-81ED-4DB2-BD59-A6C34878D82A}">
                    <a16:rowId xmlns:a16="http://schemas.microsoft.com/office/drawing/2014/main" val="10000"/>
                  </a:ext>
                </a:extLst>
              </a:tr>
              <a:tr h="557142">
                <a:tc>
                  <a:txBody>
                    <a:bodyPr/>
                    <a:lstStyle/>
                    <a:p>
                      <a:r>
                        <a:rPr sz="1200" b="1">
                          <a:solidFill>
                            <a:srgbClr val="1E2761"/>
                          </a:solidFill>
                          <a:latin typeface="Calibri"/>
                        </a:rPr>
                        <a:t>OrderMonth</a:t>
                      </a:r>
                    </a:p>
                  </a:txBody>
                  <a:tcPr>
                    <a:solidFill>
                      <a:srgbClr val="FFFFFF"/>
                    </a:solidFill>
                  </a:tcPr>
                </a:tc>
                <a:tc>
                  <a:txBody>
                    <a:bodyPr/>
                    <a:lstStyle/>
                    <a:p>
                      <a:r>
                        <a:rPr sz="1150" b="0">
                          <a:solidFill>
                            <a:srgbClr val="1B2140"/>
                          </a:solidFill>
                          <a:latin typeface="Calibri"/>
                        </a:rPr>
                        <a:t>Date</a:t>
                      </a:r>
                    </a:p>
                  </a:txBody>
                  <a:tcPr>
                    <a:solidFill>
                      <a:srgbClr val="FFFFFF"/>
                    </a:solidFill>
                  </a:tcPr>
                </a:tc>
                <a:tc>
                  <a:txBody>
                    <a:bodyPr/>
                    <a:lstStyle/>
                    <a:p>
                      <a:r>
                        <a:rPr sz="1150" b="0">
                          <a:solidFill>
                            <a:srgbClr val="1B2140"/>
                          </a:solidFill>
                          <a:latin typeface="Calibri"/>
                        </a:rPr>
                        <a:t>Month number (1-12) for seasonality</a:t>
                      </a:r>
                    </a:p>
                  </a:txBody>
                  <a:tcPr>
                    <a:solidFill>
                      <a:srgbClr val="FFFFFF"/>
                    </a:solidFill>
                  </a:tcPr>
                </a:tc>
                <a:extLst>
                  <a:ext uri="{0D108BD9-81ED-4DB2-BD59-A6C34878D82A}">
                    <a16:rowId xmlns:a16="http://schemas.microsoft.com/office/drawing/2014/main" val="10001"/>
                  </a:ext>
                </a:extLst>
              </a:tr>
              <a:tr h="557142">
                <a:tc>
                  <a:txBody>
                    <a:bodyPr/>
                    <a:lstStyle/>
                    <a:p>
                      <a:r>
                        <a:rPr sz="1200" b="1">
                          <a:solidFill>
                            <a:srgbClr val="1E2761"/>
                          </a:solidFill>
                          <a:latin typeface="Calibri"/>
                        </a:rPr>
                        <a:t>OrderWeekday</a:t>
                      </a:r>
                    </a:p>
                  </a:txBody>
                  <a:tcPr>
                    <a:solidFill>
                      <a:srgbClr val="EEF3FC"/>
                    </a:solidFill>
                  </a:tcPr>
                </a:tc>
                <a:tc>
                  <a:txBody>
                    <a:bodyPr/>
                    <a:lstStyle/>
                    <a:p>
                      <a:r>
                        <a:rPr sz="1150" b="0">
                          <a:solidFill>
                            <a:srgbClr val="1B2140"/>
                          </a:solidFill>
                          <a:latin typeface="Calibri"/>
                        </a:rPr>
                        <a:t>Date</a:t>
                      </a:r>
                    </a:p>
                  </a:txBody>
                  <a:tcPr>
                    <a:solidFill>
                      <a:srgbClr val="EEF3FC"/>
                    </a:solidFill>
                  </a:tcPr>
                </a:tc>
                <a:tc>
                  <a:txBody>
                    <a:bodyPr/>
                    <a:lstStyle/>
                    <a:p>
                      <a:r>
                        <a:rPr sz="1150" b="0">
                          <a:solidFill>
                            <a:srgbClr val="1B2140"/>
                          </a:solidFill>
                          <a:latin typeface="Calibri"/>
                        </a:rPr>
                        <a:t>Day name to compare weekday behaviour</a:t>
                      </a:r>
                    </a:p>
                  </a:txBody>
                  <a:tcPr>
                    <a:solidFill>
                      <a:srgbClr val="EEF3FC"/>
                    </a:solidFill>
                  </a:tcPr>
                </a:tc>
                <a:extLst>
                  <a:ext uri="{0D108BD9-81ED-4DB2-BD59-A6C34878D82A}">
                    <a16:rowId xmlns:a16="http://schemas.microsoft.com/office/drawing/2014/main" val="10002"/>
                  </a:ext>
                </a:extLst>
              </a:tr>
              <a:tr h="557142">
                <a:tc>
                  <a:txBody>
                    <a:bodyPr/>
                    <a:lstStyle/>
                    <a:p>
                      <a:r>
                        <a:rPr sz="1200" b="1">
                          <a:solidFill>
                            <a:srgbClr val="1E2761"/>
                          </a:solidFill>
                          <a:latin typeface="Calibri"/>
                        </a:rPr>
                        <a:t>IsWeekend</a:t>
                      </a:r>
                    </a:p>
                  </a:txBody>
                  <a:tcPr>
                    <a:solidFill>
                      <a:srgbClr val="FFFFFF"/>
                    </a:solidFill>
                  </a:tcPr>
                </a:tc>
                <a:tc>
                  <a:txBody>
                    <a:bodyPr/>
                    <a:lstStyle/>
                    <a:p>
                      <a:r>
                        <a:rPr sz="1150" b="0">
                          <a:solidFill>
                            <a:srgbClr val="1B2140"/>
                          </a:solidFill>
                          <a:latin typeface="Calibri"/>
                        </a:rPr>
                        <a:t>Date</a:t>
                      </a:r>
                    </a:p>
                  </a:txBody>
                  <a:tcPr>
                    <a:solidFill>
                      <a:srgbClr val="FFFFFF"/>
                    </a:solidFill>
                  </a:tcPr>
                </a:tc>
                <a:tc>
                  <a:txBody>
                    <a:bodyPr/>
                    <a:lstStyle/>
                    <a:p>
                      <a:r>
                        <a:rPr sz="1150" b="0">
                          <a:solidFill>
                            <a:srgbClr val="1B2140"/>
                          </a:solidFill>
                          <a:latin typeface="Calibri"/>
                        </a:rPr>
                        <a:t>1 if the order fell on Sat or Sun</a:t>
                      </a:r>
                    </a:p>
                  </a:txBody>
                  <a:tcPr>
                    <a:solidFill>
                      <a:srgbClr val="FFFFFF"/>
                    </a:solidFill>
                  </a:tcPr>
                </a:tc>
                <a:extLst>
                  <a:ext uri="{0D108BD9-81ED-4DB2-BD59-A6C34878D82A}">
                    <a16:rowId xmlns:a16="http://schemas.microsoft.com/office/drawing/2014/main" val="10003"/>
                  </a:ext>
                </a:extLst>
              </a:tr>
              <a:tr h="557142">
                <a:tc>
                  <a:txBody>
                    <a:bodyPr/>
                    <a:lstStyle/>
                    <a:p>
                      <a:r>
                        <a:rPr sz="1200" b="1">
                          <a:solidFill>
                            <a:srgbClr val="1E2761"/>
                          </a:solidFill>
                          <a:latin typeface="Calibri"/>
                        </a:rPr>
                        <a:t>HasCoupon</a:t>
                      </a:r>
                    </a:p>
                  </a:txBody>
                  <a:tcPr>
                    <a:solidFill>
                      <a:srgbClr val="EEF3FC"/>
                    </a:solidFill>
                  </a:tcPr>
                </a:tc>
                <a:tc>
                  <a:txBody>
                    <a:bodyPr/>
                    <a:lstStyle/>
                    <a:p>
                      <a:r>
                        <a:rPr sz="1150" b="0">
                          <a:solidFill>
                            <a:srgbClr val="1B2140"/>
                          </a:solidFill>
                          <a:latin typeface="Calibri"/>
                        </a:rPr>
                        <a:t>CouponCode</a:t>
                      </a:r>
                    </a:p>
                  </a:txBody>
                  <a:tcPr>
                    <a:solidFill>
                      <a:srgbClr val="EEF3FC"/>
                    </a:solidFill>
                  </a:tcPr>
                </a:tc>
                <a:tc>
                  <a:txBody>
                    <a:bodyPr/>
                    <a:lstStyle/>
                    <a:p>
                      <a:r>
                        <a:rPr sz="1150" b="0">
                          <a:solidFill>
                            <a:srgbClr val="1B2140"/>
                          </a:solidFill>
                          <a:latin typeface="Calibri"/>
                        </a:rPr>
                        <a:t>1 if a real coupon was used (not "No Coupon")</a:t>
                      </a:r>
                    </a:p>
                  </a:txBody>
                  <a:tcPr>
                    <a:solidFill>
                      <a:srgbClr val="EEF3FC"/>
                    </a:solidFill>
                  </a:tcPr>
                </a:tc>
                <a:extLst>
                  <a:ext uri="{0D108BD9-81ED-4DB2-BD59-A6C34878D82A}">
                    <a16:rowId xmlns:a16="http://schemas.microsoft.com/office/drawing/2014/main" val="10004"/>
                  </a:ext>
                </a:extLst>
              </a:tr>
              <a:tr h="557142">
                <a:tc>
                  <a:txBody>
                    <a:bodyPr/>
                    <a:lstStyle/>
                    <a:p>
                      <a:r>
                        <a:rPr sz="1200" b="1">
                          <a:solidFill>
                            <a:srgbClr val="1E2761"/>
                          </a:solidFill>
                          <a:latin typeface="Calibri"/>
                        </a:rPr>
                        <a:t>AvgItemValue</a:t>
                      </a:r>
                    </a:p>
                  </a:txBody>
                  <a:tcPr>
                    <a:solidFill>
                      <a:srgbClr val="FFFFFF"/>
                    </a:solidFill>
                  </a:tcPr>
                </a:tc>
                <a:tc>
                  <a:txBody>
                    <a:bodyPr/>
                    <a:lstStyle/>
                    <a:p>
                      <a:r>
                        <a:rPr sz="1150" b="0">
                          <a:solidFill>
                            <a:srgbClr val="1B2140"/>
                          </a:solidFill>
                          <a:latin typeface="Calibri"/>
                        </a:rPr>
                        <a:t>TotalPrice / ItemsInCart</a:t>
                      </a:r>
                    </a:p>
                  </a:txBody>
                  <a:tcPr>
                    <a:solidFill>
                      <a:srgbClr val="FFFFFF"/>
                    </a:solidFill>
                  </a:tcPr>
                </a:tc>
                <a:tc>
                  <a:txBody>
                    <a:bodyPr/>
                    <a:lstStyle/>
                    <a:p>
                      <a:r>
                        <a:rPr sz="1150" b="0">
                          <a:solidFill>
                            <a:srgbClr val="1B2140"/>
                          </a:solidFill>
                          <a:latin typeface="Calibri"/>
                        </a:rPr>
                        <a:t>Average spend per item in the cart</a:t>
                      </a:r>
                    </a:p>
                  </a:txBody>
                  <a:tcPr>
                    <a:solidFill>
                      <a:srgbClr val="FFFFFF"/>
                    </a:solidFill>
                  </a:tcPr>
                </a:tc>
                <a:extLst>
                  <a:ext uri="{0D108BD9-81ED-4DB2-BD59-A6C34878D82A}">
                    <a16:rowId xmlns:a16="http://schemas.microsoft.com/office/drawing/2014/main" val="10005"/>
                  </a:ext>
                </a:extLst>
              </a:tr>
              <a:tr h="557148">
                <a:tc>
                  <a:txBody>
                    <a:bodyPr/>
                    <a:lstStyle/>
                    <a:p>
                      <a:r>
                        <a:rPr sz="1200" b="1">
                          <a:solidFill>
                            <a:srgbClr val="1E2761"/>
                          </a:solidFill>
                          <a:latin typeface="Calibri"/>
                        </a:rPr>
                        <a:t>IsHighValueOrder</a:t>
                      </a:r>
                    </a:p>
                  </a:txBody>
                  <a:tcPr>
                    <a:solidFill>
                      <a:srgbClr val="EEF3FC"/>
                    </a:solidFill>
                  </a:tcPr>
                </a:tc>
                <a:tc>
                  <a:txBody>
                    <a:bodyPr/>
                    <a:lstStyle/>
                    <a:p>
                      <a:r>
                        <a:rPr sz="1150" b="0">
                          <a:solidFill>
                            <a:srgbClr val="1B2140"/>
                          </a:solidFill>
                          <a:latin typeface="Calibri"/>
                        </a:rPr>
                        <a:t>TotalPrice</a:t>
                      </a:r>
                    </a:p>
                  </a:txBody>
                  <a:tcPr>
                    <a:solidFill>
                      <a:srgbClr val="EEF3FC"/>
                    </a:solidFill>
                  </a:tcPr>
                </a:tc>
                <a:tc>
                  <a:txBody>
                    <a:bodyPr/>
                    <a:lstStyle/>
                    <a:p>
                      <a:r>
                        <a:rPr sz="1150" b="0">
                          <a:solidFill>
                            <a:srgbClr val="1B2140"/>
                          </a:solidFill>
                          <a:latin typeface="Calibri"/>
                        </a:rPr>
                        <a:t>1 if above the 75th percentile (1,578.48)</a:t>
                      </a:r>
                    </a:p>
                  </a:txBody>
                  <a:tcPr>
                    <a:solidFill>
                      <a:srgbClr val="EEF3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412480" y="2377440"/>
            <a:ext cx="5669280" cy="5669280"/>
          </a:xfrm>
          <a:prstGeom prst="ellipse">
            <a:avLst/>
          </a:prstGeom>
          <a:solidFill>
            <a:srgbClr val="CADCFC">
              <a:alpha val="10000"/>
            </a:srgbClr>
          </a:solidFill>
          <a:ln/>
        </p:spPr>
        <p:txBody>
          <a:bodyPr/>
          <a:lstStyle/>
          <a:p>
            <a:endParaRPr lang="en-US"/>
          </a:p>
        </p:txBody>
      </p:sp>
      <p:sp>
        <p:nvSpPr>
          <p:cNvPr id="3" name="Shape 1"/>
          <p:cNvSpPr/>
          <p:nvPr/>
        </p:nvSpPr>
        <p:spPr>
          <a:xfrm>
            <a:off x="9692640" y="4160520"/>
            <a:ext cx="1828800" cy="1828800"/>
          </a:xfrm>
          <a:prstGeom prst="ellipse">
            <a:avLst/>
          </a:prstGeom>
          <a:solidFill>
            <a:srgbClr val="141B47"/>
          </a:solidFill>
          <a:ln/>
        </p:spPr>
        <p:txBody>
          <a:bodyPr/>
          <a:lstStyle/>
          <a:p>
            <a:endParaRPr lang="en-US"/>
          </a:p>
        </p:txBody>
      </p:sp>
      <p:pic>
        <p:nvPicPr>
          <p:cNvPr id="4" name="Image 0" descr="/home/claude/decodelabs_deck/assets/shield_amber.png"/>
          <p:cNvPicPr>
            <a:picLocks noChangeAspect="1"/>
          </p:cNvPicPr>
          <p:nvPr/>
        </p:nvPicPr>
        <p:blipFill>
          <a:blip r:embed="rId3"/>
          <a:stretch>
            <a:fillRect/>
          </a:stretch>
        </p:blipFill>
        <p:spPr>
          <a:xfrm>
            <a:off x="10149840" y="4617720"/>
            <a:ext cx="914400" cy="914400"/>
          </a:xfrm>
          <a:prstGeom prst="rect">
            <a:avLst/>
          </a:prstGeom>
        </p:spPr>
      </p:pic>
      <p:sp>
        <p:nvSpPr>
          <p:cNvPr id="5" name="Text 2"/>
          <p:cNvSpPr/>
          <p:nvPr/>
        </p:nvSpPr>
        <p:spPr>
          <a:xfrm>
            <a:off x="731520" y="2331720"/>
            <a:ext cx="5486400" cy="365760"/>
          </a:xfrm>
          <a:prstGeom prst="rect">
            <a:avLst/>
          </a:prstGeom>
          <a:noFill/>
          <a:ln/>
        </p:spPr>
        <p:txBody>
          <a:bodyPr wrap="square" lIns="0" tIns="0" rIns="0" bIns="0" rtlCol="0" anchor="ctr"/>
          <a:lstStyle/>
          <a:p>
            <a:pPr marL="0" indent="0">
              <a:buNone/>
            </a:pPr>
            <a:r>
              <a:rPr lang="en-US" sz="1500" b="1" kern="0" spc="200" dirty="0">
                <a:solidFill>
                  <a:srgbClr val="F4A300"/>
                </a:solidFill>
                <a:latin typeface="Calibri" pitchFamily="34" charset="0"/>
                <a:ea typeface="Calibri" pitchFamily="34" charset="-122"/>
                <a:cs typeface="Calibri" pitchFamily="34" charset="-120"/>
              </a:rPr>
              <a:t>PART TWO</a:t>
            </a:r>
            <a:endParaRPr lang="en-US" sz="1500" dirty="0"/>
          </a:p>
        </p:txBody>
      </p:sp>
      <p:sp>
        <p:nvSpPr>
          <p:cNvPr id="6" name="Text 3"/>
          <p:cNvSpPr/>
          <p:nvPr/>
        </p:nvSpPr>
        <p:spPr>
          <a:xfrm>
            <a:off x="713232" y="2743200"/>
            <a:ext cx="8686800" cy="1645920"/>
          </a:xfrm>
          <a:prstGeom prst="rect">
            <a:avLst/>
          </a:prstGeom>
          <a:noFill/>
          <a:ln/>
        </p:spPr>
        <p:txBody>
          <a:bodyPr wrap="square" lIns="0" tIns="0" rIns="0" bIns="0" rtlCol="0" anchor="ctr"/>
          <a:lstStyle/>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Task 2: Credit Card</a:t>
            </a:r>
            <a:endParaRPr lang="en-US" sz="3800" dirty="0"/>
          </a:p>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Fraud Detection</a:t>
            </a:r>
            <a:endParaRPr lang="en-US" sz="3800" dirty="0"/>
          </a:p>
        </p:txBody>
      </p:sp>
      <p:sp>
        <p:nvSpPr>
          <p:cNvPr id="7" name="Text 4"/>
          <p:cNvSpPr/>
          <p:nvPr/>
        </p:nvSpPr>
        <p:spPr>
          <a:xfrm>
            <a:off x="731520" y="4251960"/>
            <a:ext cx="8229600" cy="45720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Training and comparing machine learning models on 284,807 real transactions</a:t>
            </a:r>
            <a:endParaRPr lang="en-US" sz="1600" dirty="0"/>
          </a:p>
        </p:txBody>
      </p:sp>
      <p:sp>
        <p:nvSpPr>
          <p:cNvPr id="8" name="Text 5"/>
          <p:cNvSpPr/>
          <p:nvPr/>
        </p:nvSpPr>
        <p:spPr>
          <a:xfrm>
            <a:off x="548640" y="6528816"/>
            <a:ext cx="7772400" cy="274320"/>
          </a:xfrm>
          <a:prstGeom prst="rect">
            <a:avLst/>
          </a:prstGeom>
          <a:noFill/>
          <a:ln/>
        </p:spPr>
        <p:txBody>
          <a:bodyPr wrap="square" lIns="0" tIns="0" rIns="0" bIns="0" rtlCol="0" anchor="ctr"/>
          <a:lstStyle/>
          <a:p>
            <a:pPr marL="0" indent="0" algn="l">
              <a:buNone/>
            </a:pPr>
            <a:r>
              <a:rPr lang="en-US" sz="900" kern="0" spc="100" dirty="0">
                <a:solidFill>
                  <a:srgbClr val="CADCFC"/>
                </a:solidFill>
                <a:latin typeface="Calibri" pitchFamily="34" charset="0"/>
                <a:ea typeface="Calibri" pitchFamily="34" charset="-122"/>
                <a:cs typeface="Calibri" pitchFamily="34" charset="-120"/>
              </a:rPr>
              <a:t>YASHIL  ·  DECODELABS DATA SCIENCE INTERNSHIP</a:t>
            </a:r>
            <a:endParaRPr lang="en-US" sz="900" dirty="0"/>
          </a:p>
        </p:txBody>
      </p:sp>
      <p:sp>
        <p:nvSpPr>
          <p:cNvPr id="9" name="Text 6"/>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601200" cy="292608"/>
          </a:xfrm>
          <a:prstGeom prst="rect">
            <a:avLst/>
          </a:prstGeom>
          <a:noFill/>
          <a:ln/>
        </p:spPr>
        <p:txBody>
          <a:bodyPr wrap="square" lIns="0" tIns="0" rIns="0" bIns="0"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TASK 2 · THE DATASET</a:t>
            </a:r>
            <a:endParaRPr lang="en-US" sz="1200" dirty="0"/>
          </a:p>
        </p:txBody>
      </p:sp>
      <p:sp>
        <p:nvSpPr>
          <p:cNvPr id="3" name="Text 1"/>
          <p:cNvSpPr/>
          <p:nvPr/>
        </p:nvSpPr>
        <p:spPr>
          <a:xfrm>
            <a:off x="640080" y="658368"/>
            <a:ext cx="9784080" cy="640080"/>
          </a:xfrm>
          <a:prstGeom prst="rect">
            <a:avLst/>
          </a:prstGeom>
          <a:noFill/>
          <a:ln/>
        </p:spPr>
        <p:txBody>
          <a:bodyPr wrap="square" lIns="0" tIns="0" rIns="0" bIns="0" rtlCol="0" anchor="t"/>
          <a:lstStyle/>
          <a:p>
            <a:pPr marL="0" indent="0">
              <a:buNone/>
            </a:pPr>
            <a:r>
              <a:rPr lang="en-US" sz="2800" b="1" dirty="0">
                <a:solidFill>
                  <a:srgbClr val="1E2761"/>
                </a:solidFill>
                <a:latin typeface="Cambria" pitchFamily="34" charset="0"/>
                <a:ea typeface="Cambria" pitchFamily="34" charset="-122"/>
                <a:cs typeface="Cambria" pitchFamily="34" charset="-120"/>
              </a:rPr>
              <a:t>creditcard.csv — A Highly Imbalanced Dataset</a:t>
            </a:r>
            <a:endParaRPr lang="en-US" sz="2800" dirty="0"/>
          </a:p>
        </p:txBody>
      </p:sp>
      <p:sp>
        <p:nvSpPr>
          <p:cNvPr id="4" name="Shape 2"/>
          <p:cNvSpPr/>
          <p:nvPr/>
        </p:nvSpPr>
        <p:spPr>
          <a:xfrm>
            <a:off x="10817352" y="502920"/>
            <a:ext cx="777240" cy="777240"/>
          </a:xfrm>
          <a:prstGeom prst="ellipse">
            <a:avLst/>
          </a:prstGeom>
          <a:solidFill>
            <a:srgbClr val="1E2761"/>
          </a:solidFill>
          <a:ln/>
        </p:spPr>
        <p:txBody>
          <a:bodyPr/>
          <a:lstStyle/>
          <a:p>
            <a:endParaRPr lang="en-US"/>
          </a:p>
        </p:txBody>
      </p:sp>
      <p:pic>
        <p:nvPicPr>
          <p:cNvPr id="5" name="Image 0" descr="/home/claude/decodelabs_deck/assets/piechart_white.png"/>
          <p:cNvPicPr>
            <a:picLocks noChangeAspect="1"/>
          </p:cNvPicPr>
          <p:nvPr/>
        </p:nvPicPr>
        <p:blipFill>
          <a:blip r:embed="rId3"/>
          <a:stretch>
            <a:fillRect/>
          </a:stretch>
        </p:blipFill>
        <p:spPr>
          <a:xfrm>
            <a:off x="11000232" y="685800"/>
            <a:ext cx="411480" cy="411480"/>
          </a:xfrm>
          <a:prstGeom prst="rect">
            <a:avLst/>
          </a:prstGeom>
        </p:spPr>
      </p:pic>
      <p:sp>
        <p:nvSpPr>
          <p:cNvPr id="6" name="Text 3"/>
          <p:cNvSpPr/>
          <p:nvPr/>
        </p:nvSpPr>
        <p:spPr>
          <a:xfrm>
            <a:off x="685800" y="1691640"/>
            <a:ext cx="3291840" cy="651967"/>
          </a:xfrm>
          <a:prstGeom prst="rect">
            <a:avLst/>
          </a:prstGeom>
          <a:noFill/>
          <a:ln/>
        </p:spPr>
        <p:txBody>
          <a:bodyPr wrap="square" lIns="0" tIns="0" rIns="0" bIns="0" rtlCol="0" anchor="b"/>
          <a:lstStyle/>
          <a:p>
            <a:pPr marL="0" indent="0" algn="l">
              <a:buNone/>
            </a:pPr>
            <a:r>
              <a:rPr lang="en-US" sz="3200" b="1" dirty="0">
                <a:solidFill>
                  <a:srgbClr val="1E2761"/>
                </a:solidFill>
                <a:latin typeface="Cambria" pitchFamily="34" charset="0"/>
                <a:ea typeface="Cambria" pitchFamily="34" charset="-122"/>
                <a:cs typeface="Cambria" pitchFamily="34" charset="-120"/>
              </a:rPr>
              <a:t>284,807</a:t>
            </a:r>
            <a:endParaRPr lang="en-US" sz="3200" dirty="0"/>
          </a:p>
        </p:txBody>
      </p:sp>
      <p:sp>
        <p:nvSpPr>
          <p:cNvPr id="7" name="Text 4"/>
          <p:cNvSpPr/>
          <p:nvPr/>
        </p:nvSpPr>
        <p:spPr>
          <a:xfrm>
            <a:off x="685800" y="2343607"/>
            <a:ext cx="3291840" cy="399593"/>
          </a:xfrm>
          <a:prstGeom prst="rect">
            <a:avLst/>
          </a:prstGeom>
          <a:noFill/>
          <a:ln/>
        </p:spPr>
        <p:txBody>
          <a:bodyPr wrap="square" lIns="0" tIns="0" rIns="0" bIns="0" rtlCol="0" anchor="t"/>
          <a:lstStyle/>
          <a:p>
            <a:pPr marL="0" indent="0" algn="l">
              <a:buNone/>
            </a:pPr>
            <a:r>
              <a:rPr lang="en-US" sz="1250" dirty="0">
                <a:solidFill>
                  <a:srgbClr val="6B7A9E"/>
                </a:solidFill>
                <a:latin typeface="Calibri" pitchFamily="34" charset="0"/>
                <a:ea typeface="Calibri" pitchFamily="34" charset="-122"/>
                <a:cs typeface="Calibri" pitchFamily="34" charset="-120"/>
              </a:rPr>
              <a:t>transactions</a:t>
            </a:r>
            <a:endParaRPr lang="en-US" sz="1250" dirty="0"/>
          </a:p>
        </p:txBody>
      </p:sp>
      <p:sp>
        <p:nvSpPr>
          <p:cNvPr id="8" name="Text 5"/>
          <p:cNvSpPr/>
          <p:nvPr/>
        </p:nvSpPr>
        <p:spPr>
          <a:xfrm>
            <a:off x="4160520" y="1691640"/>
            <a:ext cx="3291840" cy="651967"/>
          </a:xfrm>
          <a:prstGeom prst="rect">
            <a:avLst/>
          </a:prstGeom>
          <a:noFill/>
          <a:ln/>
        </p:spPr>
        <p:txBody>
          <a:bodyPr wrap="square" lIns="0" tIns="0" rIns="0" bIns="0" rtlCol="0" anchor="b"/>
          <a:lstStyle/>
          <a:p>
            <a:pPr marL="0" indent="0" algn="l">
              <a:buNone/>
            </a:pPr>
            <a:r>
              <a:rPr lang="en-US" sz="4000" b="1" dirty="0">
                <a:solidFill>
                  <a:srgbClr val="1E2761"/>
                </a:solidFill>
                <a:latin typeface="Cambria" pitchFamily="34" charset="0"/>
                <a:ea typeface="Cambria" pitchFamily="34" charset="-122"/>
                <a:cs typeface="Cambria" pitchFamily="34" charset="-120"/>
              </a:rPr>
              <a:t>31</a:t>
            </a:r>
            <a:endParaRPr lang="en-US" sz="4000" dirty="0"/>
          </a:p>
        </p:txBody>
      </p:sp>
      <p:sp>
        <p:nvSpPr>
          <p:cNvPr id="9" name="Text 6"/>
          <p:cNvSpPr/>
          <p:nvPr/>
        </p:nvSpPr>
        <p:spPr>
          <a:xfrm>
            <a:off x="4160520" y="2343607"/>
            <a:ext cx="3291840" cy="399593"/>
          </a:xfrm>
          <a:prstGeom prst="rect">
            <a:avLst/>
          </a:prstGeom>
          <a:noFill/>
          <a:ln/>
        </p:spPr>
        <p:txBody>
          <a:bodyPr wrap="square" lIns="0" tIns="0" rIns="0" bIns="0" rtlCol="0" anchor="t"/>
          <a:lstStyle/>
          <a:p>
            <a:pPr marL="0" indent="0" algn="l">
              <a:buNone/>
            </a:pPr>
            <a:r>
              <a:rPr lang="en-US" sz="1250" dirty="0">
                <a:solidFill>
                  <a:srgbClr val="6B7A9E"/>
                </a:solidFill>
                <a:latin typeface="Calibri" pitchFamily="34" charset="0"/>
                <a:ea typeface="Calibri" pitchFamily="34" charset="-122"/>
                <a:cs typeface="Calibri" pitchFamily="34" charset="-120"/>
              </a:rPr>
              <a:t>columns</a:t>
            </a:r>
            <a:endParaRPr lang="en-US" sz="1250" dirty="0"/>
          </a:p>
        </p:txBody>
      </p:sp>
      <p:sp>
        <p:nvSpPr>
          <p:cNvPr id="10" name="Text 7"/>
          <p:cNvSpPr/>
          <p:nvPr/>
        </p:nvSpPr>
        <p:spPr>
          <a:xfrm>
            <a:off x="7635240" y="1691640"/>
            <a:ext cx="3840480" cy="651967"/>
          </a:xfrm>
          <a:prstGeom prst="rect">
            <a:avLst/>
          </a:prstGeom>
          <a:noFill/>
          <a:ln/>
        </p:spPr>
        <p:txBody>
          <a:bodyPr wrap="square" lIns="0" tIns="0" rIns="0" bIns="0" rtlCol="0" anchor="b"/>
          <a:lstStyle/>
          <a:p>
            <a:pPr marL="0" indent="0" algn="l">
              <a:buNone/>
            </a:pPr>
            <a:r>
              <a:rPr lang="en-US" sz="3200" b="1" dirty="0">
                <a:solidFill>
                  <a:srgbClr val="C0392B"/>
                </a:solidFill>
                <a:latin typeface="Cambria" pitchFamily="34" charset="0"/>
                <a:ea typeface="Cambria" pitchFamily="34" charset="-122"/>
                <a:cs typeface="Cambria" pitchFamily="34" charset="-120"/>
              </a:rPr>
              <a:t>0.173%</a:t>
            </a:r>
            <a:endParaRPr lang="en-US" sz="3200" dirty="0"/>
          </a:p>
        </p:txBody>
      </p:sp>
      <p:sp>
        <p:nvSpPr>
          <p:cNvPr id="11" name="Text 8"/>
          <p:cNvSpPr/>
          <p:nvPr/>
        </p:nvSpPr>
        <p:spPr>
          <a:xfrm>
            <a:off x="7635240" y="2343607"/>
            <a:ext cx="3840480" cy="399593"/>
          </a:xfrm>
          <a:prstGeom prst="rect">
            <a:avLst/>
          </a:prstGeom>
          <a:noFill/>
          <a:ln/>
        </p:spPr>
        <p:txBody>
          <a:bodyPr wrap="square" lIns="0" tIns="0" rIns="0" bIns="0" rtlCol="0" anchor="t"/>
          <a:lstStyle/>
          <a:p>
            <a:pPr marL="0" indent="0" algn="l">
              <a:buNone/>
            </a:pPr>
            <a:r>
              <a:rPr lang="en-US" sz="1250" dirty="0">
                <a:solidFill>
                  <a:srgbClr val="6B7A9E"/>
                </a:solidFill>
                <a:latin typeface="Calibri" pitchFamily="34" charset="0"/>
                <a:ea typeface="Calibri" pitchFamily="34" charset="-122"/>
                <a:cs typeface="Calibri" pitchFamily="34" charset="-120"/>
              </a:rPr>
              <a:t>of transactions are fraud</a:t>
            </a:r>
            <a:endParaRPr lang="en-US" sz="1250" dirty="0"/>
          </a:p>
        </p:txBody>
      </p:sp>
      <p:sp>
        <p:nvSpPr>
          <p:cNvPr id="13" name="Shape 9"/>
          <p:cNvSpPr/>
          <p:nvPr/>
        </p:nvSpPr>
        <p:spPr>
          <a:xfrm>
            <a:off x="6080760" y="2880360"/>
            <a:ext cx="5394960" cy="3063240"/>
          </a:xfrm>
          <a:prstGeom prst="roundRect">
            <a:avLst>
              <a:gd name="adj" fmla="val 2388"/>
            </a:avLst>
          </a:prstGeom>
          <a:solidFill>
            <a:srgbClr val="EEF3FC"/>
          </a:solidFill>
          <a:ln/>
          <a:effectLst>
            <a:outerShdw blurRad="76200" dist="25400" dir="5400000" algn="bl" rotWithShape="0">
              <a:srgbClr val="0B1330">
                <a:alpha val="12000"/>
              </a:srgbClr>
            </a:outerShdw>
          </a:effectLst>
        </p:spPr>
        <p:txBody>
          <a:bodyPr/>
          <a:lstStyle/>
          <a:p>
            <a:endParaRPr lang="en-US"/>
          </a:p>
        </p:txBody>
      </p:sp>
      <p:sp>
        <p:nvSpPr>
          <p:cNvPr id="14" name="Text 10"/>
          <p:cNvSpPr/>
          <p:nvPr/>
        </p:nvSpPr>
        <p:spPr>
          <a:xfrm>
            <a:off x="6355080" y="3154680"/>
            <a:ext cx="4846320" cy="2651760"/>
          </a:xfrm>
          <a:prstGeom prst="rect">
            <a:avLst/>
          </a:prstGeom>
          <a:noFill/>
          <a:ln/>
        </p:spPr>
        <p:txBody>
          <a:bodyPr wrap="square" lIns="0" tIns="0" rIns="0" bIns="0" rtlCol="0" anchor="t"/>
          <a:lstStyle/>
          <a:p>
            <a:pPr marL="0" indent="0">
              <a:lnSpc>
                <a:spcPct val="130000"/>
              </a:lnSpc>
              <a:buNone/>
            </a:pPr>
            <a:r>
              <a:rPr lang="en-US" sz="1300" b="1" dirty="0">
                <a:solidFill>
                  <a:srgbClr val="1E2761"/>
                </a:solidFill>
                <a:latin typeface="Calibri" pitchFamily="34" charset="0"/>
                <a:ea typeface="Calibri" pitchFamily="34" charset="-122"/>
                <a:cs typeface="Calibri" pitchFamily="34" charset="-120"/>
              </a:rPr>
              <a:t>Time, V1–V28, Amount, Class</a:t>
            </a:r>
            <a:endParaRPr lang="en-US" sz="1300" dirty="0"/>
          </a:p>
          <a:p>
            <a:pPr marL="0" indent="0">
              <a:lnSpc>
                <a:spcPct val="130000"/>
              </a:lnSpc>
              <a:buNone/>
            </a:pPr>
            <a:r>
              <a:rPr lang="en-US" sz="1300" dirty="0">
                <a:solidFill>
                  <a:srgbClr val="1B2140"/>
                </a:solidFill>
                <a:latin typeface="Calibri" pitchFamily="34" charset="0"/>
                <a:ea typeface="Calibri" pitchFamily="34" charset="-122"/>
                <a:cs typeface="Calibri" pitchFamily="34" charset="-120"/>
              </a:rPr>
              <a:t>V1–V28 are PCA-anonymised features that protect cardholder identity. Class = 1 marks fraud, Class = 0 is legitimate.</a:t>
            </a:r>
            <a:endParaRPr lang="en-US" sz="1300" dirty="0"/>
          </a:p>
          <a:p>
            <a:pPr marL="0" indent="0">
              <a:lnSpc>
                <a:spcPct val="130000"/>
              </a:lnSpc>
              <a:buNone/>
            </a:pPr>
            <a:endParaRPr lang="en-US" sz="1300" dirty="0"/>
          </a:p>
          <a:p>
            <a:pPr marL="0" indent="0">
              <a:lnSpc>
                <a:spcPct val="130000"/>
              </a:lnSpc>
              <a:buNone/>
            </a:pPr>
            <a:r>
              <a:rPr lang="en-US" sz="1300" b="1" dirty="0">
                <a:solidFill>
                  <a:srgbClr val="1E2761"/>
                </a:solidFill>
                <a:latin typeface="Calibri" pitchFamily="34" charset="0"/>
                <a:ea typeface="Calibri" pitchFamily="34" charset="-122"/>
                <a:cs typeface="Calibri" pitchFamily="34" charset="-120"/>
              </a:rPr>
              <a:t>Why accuracy is misleading:</a:t>
            </a:r>
            <a:endParaRPr lang="en-US" sz="1300" dirty="0"/>
          </a:p>
          <a:p>
            <a:pPr marL="0" indent="0">
              <a:lnSpc>
                <a:spcPct val="130000"/>
              </a:lnSpc>
              <a:buNone/>
            </a:pPr>
            <a:r>
              <a:rPr lang="en-US" sz="1300" dirty="0">
                <a:solidFill>
                  <a:srgbClr val="1B2140"/>
                </a:solidFill>
                <a:latin typeface="Calibri" pitchFamily="34" charset="0"/>
                <a:ea typeface="Calibri" pitchFamily="34" charset="-122"/>
                <a:cs typeface="Calibri" pitchFamily="34" charset="-120"/>
              </a:rPr>
              <a:t>At 0.173% fraud, predicting "legitimate" every time would score 99.8% accuracy — and catch zero fraud.</a:t>
            </a:r>
            <a:endParaRPr lang="en-US" sz="1300" dirty="0"/>
          </a:p>
        </p:txBody>
      </p:sp>
      <p:sp>
        <p:nvSpPr>
          <p:cNvPr id="15" name="Text 11"/>
          <p:cNvSpPr/>
          <p:nvPr/>
        </p:nvSpPr>
        <p:spPr>
          <a:xfrm>
            <a:off x="548640" y="6528816"/>
            <a:ext cx="7772400" cy="274320"/>
          </a:xfrm>
          <a:prstGeom prst="rect">
            <a:avLst/>
          </a:prstGeom>
          <a:noFill/>
          <a:ln/>
        </p:spPr>
        <p:txBody>
          <a:bodyPr wrap="square" lIns="0" tIns="0" rIns="0" bIns="0" rtlCol="0" anchor="ctr"/>
          <a:lstStyle/>
          <a:p>
            <a:pPr marL="0" indent="0" algn="l">
              <a:buNone/>
            </a:pPr>
            <a:r>
              <a:rPr lang="en-US" sz="900" kern="0" spc="100" dirty="0">
                <a:solidFill>
                  <a:srgbClr val="6B7A9E"/>
                </a:solidFill>
                <a:latin typeface="Calibri" pitchFamily="34" charset="0"/>
                <a:ea typeface="Calibri" pitchFamily="34" charset="-122"/>
                <a:cs typeface="Calibri" pitchFamily="34" charset="-120"/>
              </a:rPr>
              <a:t>YASHIL  ·  DECODELABS DATA SCIENCE INTERNSHIP</a:t>
            </a:r>
            <a:endParaRPr lang="en-US" sz="900" dirty="0"/>
          </a:p>
        </p:txBody>
      </p:sp>
      <p:sp>
        <p:nvSpPr>
          <p:cNvPr id="16" name="Text 12"/>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900" dirty="0">
                <a:solidFill>
                  <a:srgbClr val="6B7A9E"/>
                </a:solidFill>
                <a:latin typeface="Calibri" pitchFamily="34" charset="0"/>
                <a:ea typeface="Calibri" pitchFamily="34" charset="-122"/>
                <a:cs typeface="Calibri" pitchFamily="34" charset="-120"/>
              </a:rPr>
              <a:t>09</a:t>
            </a:r>
            <a:endParaRPr lang="en-US" sz="900" dirty="0"/>
          </a:p>
        </p:txBody>
      </p:sp>
      <p:pic>
        <p:nvPicPr>
          <p:cNvPr id="17" name="Picture 16" descr="fraud_rarity.png"/>
          <p:cNvPicPr>
            <a:picLocks noChangeAspect="1"/>
          </p:cNvPicPr>
          <p:nvPr/>
        </p:nvPicPr>
        <p:blipFill>
          <a:blip r:embed="rId4"/>
          <a:stretch>
            <a:fillRect/>
          </a:stretch>
        </p:blipFill>
        <p:spPr>
          <a:xfrm>
            <a:off x="685800" y="2880360"/>
            <a:ext cx="5120640" cy="3063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601200" cy="292608"/>
          </a:xfrm>
          <a:prstGeom prst="rect">
            <a:avLst/>
          </a:prstGeom>
          <a:noFill/>
          <a:ln/>
        </p:spPr>
        <p:txBody>
          <a:bodyPr wrap="square" lIns="0" tIns="0" rIns="0" bIns="0"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TASK 2 · METHODOLOGY</a:t>
            </a:r>
            <a:endParaRPr lang="en-US" sz="1200" dirty="0"/>
          </a:p>
        </p:txBody>
      </p:sp>
      <p:sp>
        <p:nvSpPr>
          <p:cNvPr id="3" name="Text 1"/>
          <p:cNvSpPr/>
          <p:nvPr/>
        </p:nvSpPr>
        <p:spPr>
          <a:xfrm>
            <a:off x="640080" y="658368"/>
            <a:ext cx="9784080" cy="640080"/>
          </a:xfrm>
          <a:prstGeom prst="rect">
            <a:avLst/>
          </a:prstGeom>
          <a:noFill/>
          <a:ln/>
        </p:spPr>
        <p:txBody>
          <a:bodyPr wrap="square" lIns="0" tIns="0" rIns="0" bIns="0" rtlCol="0" anchor="t"/>
          <a:lstStyle/>
          <a:p>
            <a:pPr marL="0" indent="0">
              <a:buNone/>
            </a:pPr>
            <a:r>
              <a:rPr lang="en-US" sz="2800" b="1" dirty="0">
                <a:solidFill>
                  <a:srgbClr val="1E2761"/>
                </a:solidFill>
                <a:latin typeface="Cambria" pitchFamily="34" charset="0"/>
                <a:ea typeface="Cambria" pitchFamily="34" charset="-122"/>
                <a:cs typeface="Cambria" pitchFamily="34" charset="-120"/>
              </a:rPr>
              <a:t>A Leakage-Safe Modelling Pipeline</a:t>
            </a:r>
            <a:endParaRPr lang="en-US" sz="2800" dirty="0"/>
          </a:p>
        </p:txBody>
      </p:sp>
      <p:sp>
        <p:nvSpPr>
          <p:cNvPr id="4" name="Shape 2"/>
          <p:cNvSpPr/>
          <p:nvPr/>
        </p:nvSpPr>
        <p:spPr>
          <a:xfrm>
            <a:off x="10817352" y="502920"/>
            <a:ext cx="777240" cy="777240"/>
          </a:xfrm>
          <a:prstGeom prst="ellipse">
            <a:avLst/>
          </a:prstGeom>
          <a:solidFill>
            <a:srgbClr val="1E2761"/>
          </a:solidFill>
          <a:ln/>
        </p:spPr>
        <p:txBody>
          <a:bodyPr/>
          <a:lstStyle/>
          <a:p>
            <a:endParaRPr lang="en-US"/>
          </a:p>
        </p:txBody>
      </p:sp>
      <p:pic>
        <p:nvPicPr>
          <p:cNvPr id="5" name="Image 0" descr="/home/claude/decodelabs_deck/assets/gitbranch_white.png"/>
          <p:cNvPicPr>
            <a:picLocks noChangeAspect="1"/>
          </p:cNvPicPr>
          <p:nvPr/>
        </p:nvPicPr>
        <p:blipFill>
          <a:blip r:embed="rId3"/>
          <a:stretch>
            <a:fillRect/>
          </a:stretch>
        </p:blipFill>
        <p:spPr>
          <a:xfrm>
            <a:off x="11000232" y="685800"/>
            <a:ext cx="411480" cy="411480"/>
          </a:xfrm>
          <a:prstGeom prst="rect">
            <a:avLst/>
          </a:prstGeom>
        </p:spPr>
      </p:pic>
      <p:sp>
        <p:nvSpPr>
          <p:cNvPr id="6" name="Shape 3"/>
          <p:cNvSpPr/>
          <p:nvPr/>
        </p:nvSpPr>
        <p:spPr>
          <a:xfrm>
            <a:off x="685800" y="1828800"/>
            <a:ext cx="1874520" cy="1417320"/>
          </a:xfrm>
          <a:prstGeom prst="roundRect">
            <a:avLst>
              <a:gd name="adj" fmla="val 5161"/>
            </a:avLst>
          </a:prstGeom>
          <a:solidFill>
            <a:srgbClr val="EEF3FC"/>
          </a:solidFill>
          <a:ln/>
          <a:effectLst>
            <a:outerShdw blurRad="76200" dist="25400" dir="5400000" algn="bl" rotWithShape="0">
              <a:srgbClr val="0B1330">
                <a:alpha val="12000"/>
              </a:srgbClr>
            </a:outerShdw>
          </a:effectLst>
        </p:spPr>
        <p:txBody>
          <a:bodyPr/>
          <a:lstStyle/>
          <a:p>
            <a:endParaRPr lang="en-US"/>
          </a:p>
        </p:txBody>
      </p:sp>
      <p:sp>
        <p:nvSpPr>
          <p:cNvPr id="7" name="Text 4"/>
          <p:cNvSpPr/>
          <p:nvPr/>
        </p:nvSpPr>
        <p:spPr>
          <a:xfrm>
            <a:off x="777240" y="1901952"/>
            <a:ext cx="457200" cy="320040"/>
          </a:xfrm>
          <a:prstGeom prst="rect">
            <a:avLst/>
          </a:prstGeom>
          <a:noFill/>
          <a:ln/>
        </p:spPr>
        <p:txBody>
          <a:bodyPr wrap="square" lIns="0" tIns="0" rIns="0" bIns="0" rtlCol="0" anchor="ctr"/>
          <a:lstStyle/>
          <a:p>
            <a:pPr marL="0" indent="0">
              <a:buNone/>
            </a:pPr>
            <a:r>
              <a:rPr lang="en-US" sz="1500" b="1" dirty="0">
                <a:solidFill>
                  <a:srgbClr val="F4A300"/>
                </a:solidFill>
                <a:latin typeface="Cambria" pitchFamily="34" charset="0"/>
                <a:ea typeface="Cambria" pitchFamily="34" charset="-122"/>
                <a:cs typeface="Cambria" pitchFamily="34" charset="-120"/>
              </a:rPr>
              <a:t>1</a:t>
            </a:r>
            <a:endParaRPr lang="en-US" sz="1500" dirty="0"/>
          </a:p>
        </p:txBody>
      </p:sp>
      <p:sp>
        <p:nvSpPr>
          <p:cNvPr id="8" name="Text 5"/>
          <p:cNvSpPr/>
          <p:nvPr/>
        </p:nvSpPr>
        <p:spPr>
          <a:xfrm>
            <a:off x="795528" y="2212848"/>
            <a:ext cx="1655064" cy="36576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Stratified Split</a:t>
            </a:r>
            <a:endParaRPr lang="en-US" sz="1400" dirty="0"/>
          </a:p>
        </p:txBody>
      </p:sp>
      <p:sp>
        <p:nvSpPr>
          <p:cNvPr id="9" name="Text 6"/>
          <p:cNvSpPr/>
          <p:nvPr/>
        </p:nvSpPr>
        <p:spPr>
          <a:xfrm>
            <a:off x="795528" y="2578608"/>
            <a:ext cx="1655064" cy="594360"/>
          </a:xfrm>
          <a:prstGeom prst="rect">
            <a:avLst/>
          </a:prstGeom>
          <a:noFill/>
          <a:ln/>
        </p:spPr>
        <p:txBody>
          <a:bodyPr wrap="square" lIns="0" tIns="0" rIns="0" bIns="0" rtlCol="0" anchor="ctr"/>
          <a:lstStyle/>
          <a:p>
            <a:pPr marL="0" indent="0">
              <a:lnSpc>
                <a:spcPct val="115000"/>
              </a:lnSpc>
              <a:buNone/>
            </a:pPr>
            <a:r>
              <a:rPr lang="en-US" sz="1050" dirty="0">
                <a:solidFill>
                  <a:srgbClr val="6B7A9E"/>
                </a:solidFill>
                <a:latin typeface="Calibri" pitchFamily="34" charset="0"/>
                <a:ea typeface="Calibri" pitchFamily="34" charset="-122"/>
                <a:cs typeface="Calibri" pitchFamily="34" charset="-120"/>
              </a:rPr>
              <a:t>227,845 train /</a:t>
            </a:r>
            <a:endParaRPr lang="en-US" sz="1050" dirty="0"/>
          </a:p>
          <a:p>
            <a:pPr marL="0" indent="0">
              <a:lnSpc>
                <a:spcPct val="115000"/>
              </a:lnSpc>
              <a:buNone/>
            </a:pPr>
            <a:r>
              <a:rPr lang="en-US" sz="1050" dirty="0">
                <a:solidFill>
                  <a:srgbClr val="6B7A9E"/>
                </a:solidFill>
                <a:latin typeface="Calibri" pitchFamily="34" charset="0"/>
                <a:ea typeface="Calibri" pitchFamily="34" charset="-122"/>
                <a:cs typeface="Calibri" pitchFamily="34" charset="-120"/>
              </a:rPr>
              <a:t>56,962 test</a:t>
            </a:r>
            <a:endParaRPr lang="en-US" sz="1050" dirty="0"/>
          </a:p>
        </p:txBody>
      </p:sp>
      <p:sp>
        <p:nvSpPr>
          <p:cNvPr id="10" name="Text 7"/>
          <p:cNvSpPr/>
          <p:nvPr/>
        </p:nvSpPr>
        <p:spPr>
          <a:xfrm>
            <a:off x="2560320" y="1828800"/>
            <a:ext cx="256032" cy="1417320"/>
          </a:xfrm>
          <a:prstGeom prst="rect">
            <a:avLst/>
          </a:prstGeom>
          <a:noFill/>
          <a:ln/>
        </p:spPr>
        <p:txBody>
          <a:bodyPr wrap="square" lIns="0" tIns="0" rIns="0" bIns="0" rtlCol="0" anchor="ctr"/>
          <a:lstStyle/>
          <a:p>
            <a:pPr marL="0" indent="0" algn="ctr">
              <a:buNone/>
            </a:pPr>
            <a:r>
              <a:rPr lang="en-US" sz="2000" b="1" dirty="0">
                <a:solidFill>
                  <a:srgbClr val="F4A300"/>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2816352" y="1828800"/>
            <a:ext cx="1874520" cy="1417320"/>
          </a:xfrm>
          <a:prstGeom prst="roundRect">
            <a:avLst>
              <a:gd name="adj" fmla="val 5161"/>
            </a:avLst>
          </a:prstGeom>
          <a:solidFill>
            <a:srgbClr val="1E2761"/>
          </a:solidFill>
          <a:ln/>
          <a:effectLst>
            <a:outerShdw blurRad="76200" dist="25400" dir="5400000" algn="bl" rotWithShape="0">
              <a:srgbClr val="0B1330">
                <a:alpha val="12000"/>
              </a:srgbClr>
            </a:outerShdw>
          </a:effectLst>
        </p:spPr>
        <p:txBody>
          <a:bodyPr/>
          <a:lstStyle/>
          <a:p>
            <a:endParaRPr lang="en-US"/>
          </a:p>
        </p:txBody>
      </p:sp>
      <p:sp>
        <p:nvSpPr>
          <p:cNvPr id="12" name="Text 9"/>
          <p:cNvSpPr/>
          <p:nvPr/>
        </p:nvSpPr>
        <p:spPr>
          <a:xfrm>
            <a:off x="2907792" y="1901952"/>
            <a:ext cx="457200" cy="320040"/>
          </a:xfrm>
          <a:prstGeom prst="rect">
            <a:avLst/>
          </a:prstGeom>
          <a:noFill/>
          <a:ln/>
        </p:spPr>
        <p:txBody>
          <a:bodyPr wrap="square" lIns="0" tIns="0" rIns="0" bIns="0" rtlCol="0" anchor="ctr"/>
          <a:lstStyle/>
          <a:p>
            <a:pPr marL="0" indent="0">
              <a:buNone/>
            </a:pPr>
            <a:r>
              <a:rPr lang="en-US" sz="1500" b="1" dirty="0">
                <a:solidFill>
                  <a:srgbClr val="F4A300"/>
                </a:solidFill>
                <a:latin typeface="Cambria" pitchFamily="34" charset="0"/>
                <a:ea typeface="Cambria" pitchFamily="34" charset="-122"/>
                <a:cs typeface="Cambria" pitchFamily="34" charset="-120"/>
              </a:rPr>
              <a:t>2</a:t>
            </a:r>
            <a:endParaRPr lang="en-US" sz="1500" dirty="0"/>
          </a:p>
        </p:txBody>
      </p:sp>
      <p:sp>
        <p:nvSpPr>
          <p:cNvPr id="13" name="Text 10"/>
          <p:cNvSpPr/>
          <p:nvPr/>
        </p:nvSpPr>
        <p:spPr>
          <a:xfrm>
            <a:off x="2926080" y="2212848"/>
            <a:ext cx="1655064"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SMOTE</a:t>
            </a:r>
            <a:endParaRPr lang="en-US" sz="1400" dirty="0"/>
          </a:p>
        </p:txBody>
      </p:sp>
      <p:sp>
        <p:nvSpPr>
          <p:cNvPr id="14" name="Text 11"/>
          <p:cNvSpPr/>
          <p:nvPr/>
        </p:nvSpPr>
        <p:spPr>
          <a:xfrm>
            <a:off x="2926080" y="2578608"/>
            <a:ext cx="1655064" cy="59436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Inside the pipeline,</a:t>
            </a:r>
            <a:endParaRPr lang="en-US" sz="1050" dirty="0"/>
          </a:p>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train folds only</a:t>
            </a:r>
            <a:endParaRPr lang="en-US" sz="1050" dirty="0"/>
          </a:p>
        </p:txBody>
      </p:sp>
      <p:sp>
        <p:nvSpPr>
          <p:cNvPr id="15" name="Text 12"/>
          <p:cNvSpPr/>
          <p:nvPr/>
        </p:nvSpPr>
        <p:spPr>
          <a:xfrm>
            <a:off x="4690872" y="1828800"/>
            <a:ext cx="256032" cy="1417320"/>
          </a:xfrm>
          <a:prstGeom prst="rect">
            <a:avLst/>
          </a:prstGeom>
          <a:noFill/>
          <a:ln/>
        </p:spPr>
        <p:txBody>
          <a:bodyPr wrap="square" lIns="0" tIns="0" rIns="0" bIns="0" rtlCol="0" anchor="ctr"/>
          <a:lstStyle/>
          <a:p>
            <a:pPr marL="0" indent="0" algn="ctr">
              <a:buNone/>
            </a:pPr>
            <a:r>
              <a:rPr lang="en-US" sz="2000" b="1" dirty="0">
                <a:solidFill>
                  <a:srgbClr val="F4A300"/>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946904" y="1828800"/>
            <a:ext cx="1874520" cy="1417320"/>
          </a:xfrm>
          <a:prstGeom prst="roundRect">
            <a:avLst>
              <a:gd name="adj" fmla="val 5161"/>
            </a:avLst>
          </a:prstGeom>
          <a:solidFill>
            <a:srgbClr val="EEF3FC"/>
          </a:solidFill>
          <a:ln/>
          <a:effectLst>
            <a:outerShdw blurRad="76200" dist="25400" dir="5400000" algn="bl" rotWithShape="0">
              <a:srgbClr val="0B1330">
                <a:alpha val="12000"/>
              </a:srgbClr>
            </a:outerShdw>
          </a:effectLst>
        </p:spPr>
        <p:txBody>
          <a:bodyPr/>
          <a:lstStyle/>
          <a:p>
            <a:endParaRPr lang="en-US"/>
          </a:p>
        </p:txBody>
      </p:sp>
      <p:sp>
        <p:nvSpPr>
          <p:cNvPr id="17" name="Text 14"/>
          <p:cNvSpPr/>
          <p:nvPr/>
        </p:nvSpPr>
        <p:spPr>
          <a:xfrm>
            <a:off x="5038344" y="1901952"/>
            <a:ext cx="457200" cy="320040"/>
          </a:xfrm>
          <a:prstGeom prst="rect">
            <a:avLst/>
          </a:prstGeom>
          <a:noFill/>
          <a:ln/>
        </p:spPr>
        <p:txBody>
          <a:bodyPr wrap="square" lIns="0" tIns="0" rIns="0" bIns="0" rtlCol="0" anchor="ctr"/>
          <a:lstStyle/>
          <a:p>
            <a:pPr marL="0" indent="0">
              <a:buNone/>
            </a:pPr>
            <a:r>
              <a:rPr lang="en-US" sz="1500" b="1" dirty="0">
                <a:solidFill>
                  <a:srgbClr val="F4A300"/>
                </a:solidFill>
                <a:latin typeface="Cambria" pitchFamily="34" charset="0"/>
                <a:ea typeface="Cambria" pitchFamily="34" charset="-122"/>
                <a:cs typeface="Cambria" pitchFamily="34" charset="-120"/>
              </a:rPr>
              <a:t>3</a:t>
            </a:r>
            <a:endParaRPr lang="en-US" sz="1500" dirty="0"/>
          </a:p>
        </p:txBody>
      </p:sp>
      <p:sp>
        <p:nvSpPr>
          <p:cNvPr id="18" name="Text 15"/>
          <p:cNvSpPr/>
          <p:nvPr/>
        </p:nvSpPr>
        <p:spPr>
          <a:xfrm>
            <a:off x="5056632" y="2212848"/>
            <a:ext cx="1655064" cy="36576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Model</a:t>
            </a:r>
            <a:endParaRPr lang="en-US" sz="1400" dirty="0"/>
          </a:p>
        </p:txBody>
      </p:sp>
      <p:sp>
        <p:nvSpPr>
          <p:cNvPr id="19" name="Text 16"/>
          <p:cNvSpPr/>
          <p:nvPr/>
        </p:nvSpPr>
        <p:spPr>
          <a:xfrm>
            <a:off x="5056632" y="2578608"/>
            <a:ext cx="1655064" cy="594360"/>
          </a:xfrm>
          <a:prstGeom prst="rect">
            <a:avLst/>
          </a:prstGeom>
          <a:noFill/>
          <a:ln/>
        </p:spPr>
        <p:txBody>
          <a:bodyPr wrap="square" lIns="0" tIns="0" rIns="0" bIns="0" rtlCol="0" anchor="ctr"/>
          <a:lstStyle/>
          <a:p>
            <a:pPr marL="0" indent="0">
              <a:lnSpc>
                <a:spcPct val="115000"/>
              </a:lnSpc>
              <a:buNone/>
            </a:pPr>
            <a:r>
              <a:rPr lang="en-US" sz="1050" dirty="0">
                <a:solidFill>
                  <a:srgbClr val="6B7A9E"/>
                </a:solidFill>
                <a:latin typeface="Calibri" pitchFamily="34" charset="0"/>
                <a:ea typeface="Calibri" pitchFamily="34" charset="-122"/>
                <a:cs typeface="Calibri" pitchFamily="34" charset="-120"/>
              </a:rPr>
              <a:t>Logistic Regression /</a:t>
            </a:r>
            <a:endParaRPr lang="en-US" sz="1050" dirty="0"/>
          </a:p>
          <a:p>
            <a:pPr marL="0" indent="0">
              <a:lnSpc>
                <a:spcPct val="115000"/>
              </a:lnSpc>
              <a:buNone/>
            </a:pPr>
            <a:r>
              <a:rPr lang="en-US" sz="1050" dirty="0">
                <a:solidFill>
                  <a:srgbClr val="6B7A9E"/>
                </a:solidFill>
                <a:latin typeface="Calibri" pitchFamily="34" charset="0"/>
                <a:ea typeface="Calibri" pitchFamily="34" charset="-122"/>
                <a:cs typeface="Calibri" pitchFamily="34" charset="-120"/>
              </a:rPr>
              <a:t>Random Forest</a:t>
            </a:r>
            <a:endParaRPr lang="en-US" sz="1050" dirty="0"/>
          </a:p>
        </p:txBody>
      </p:sp>
      <p:sp>
        <p:nvSpPr>
          <p:cNvPr id="20" name="Text 17"/>
          <p:cNvSpPr/>
          <p:nvPr/>
        </p:nvSpPr>
        <p:spPr>
          <a:xfrm>
            <a:off x="6821424" y="1828800"/>
            <a:ext cx="256032" cy="1417320"/>
          </a:xfrm>
          <a:prstGeom prst="rect">
            <a:avLst/>
          </a:prstGeom>
          <a:noFill/>
          <a:ln/>
        </p:spPr>
        <p:txBody>
          <a:bodyPr wrap="square" lIns="0" tIns="0" rIns="0" bIns="0" rtlCol="0" anchor="ctr"/>
          <a:lstStyle/>
          <a:p>
            <a:pPr marL="0" indent="0" algn="ctr">
              <a:buNone/>
            </a:pPr>
            <a:r>
              <a:rPr lang="en-US" sz="2000" b="1" dirty="0">
                <a:solidFill>
                  <a:srgbClr val="F4A300"/>
                </a:solidFill>
                <a:latin typeface="Calibri" pitchFamily="34" charset="0"/>
                <a:ea typeface="Calibri" pitchFamily="34" charset="-122"/>
                <a:cs typeface="Calibri" pitchFamily="34" charset="-120"/>
              </a:rPr>
              <a:t>→</a:t>
            </a:r>
            <a:endParaRPr lang="en-US" sz="2000" dirty="0"/>
          </a:p>
        </p:txBody>
      </p:sp>
      <p:sp>
        <p:nvSpPr>
          <p:cNvPr id="21" name="Shape 18"/>
          <p:cNvSpPr/>
          <p:nvPr/>
        </p:nvSpPr>
        <p:spPr>
          <a:xfrm>
            <a:off x="7077456" y="1828800"/>
            <a:ext cx="1874520" cy="1417320"/>
          </a:xfrm>
          <a:prstGeom prst="roundRect">
            <a:avLst>
              <a:gd name="adj" fmla="val 5161"/>
            </a:avLst>
          </a:prstGeom>
          <a:solidFill>
            <a:srgbClr val="EEF3FC"/>
          </a:solidFill>
          <a:ln/>
          <a:effectLst>
            <a:outerShdw blurRad="76200" dist="25400" dir="5400000" algn="bl" rotWithShape="0">
              <a:srgbClr val="0B1330">
                <a:alpha val="12000"/>
              </a:srgbClr>
            </a:outerShdw>
          </a:effectLst>
        </p:spPr>
        <p:txBody>
          <a:bodyPr/>
          <a:lstStyle/>
          <a:p>
            <a:endParaRPr lang="en-US"/>
          </a:p>
        </p:txBody>
      </p:sp>
      <p:sp>
        <p:nvSpPr>
          <p:cNvPr id="22" name="Text 19"/>
          <p:cNvSpPr/>
          <p:nvPr/>
        </p:nvSpPr>
        <p:spPr>
          <a:xfrm>
            <a:off x="7168896" y="1901952"/>
            <a:ext cx="457200" cy="320040"/>
          </a:xfrm>
          <a:prstGeom prst="rect">
            <a:avLst/>
          </a:prstGeom>
          <a:noFill/>
          <a:ln/>
        </p:spPr>
        <p:txBody>
          <a:bodyPr wrap="square" lIns="0" tIns="0" rIns="0" bIns="0" rtlCol="0" anchor="ctr"/>
          <a:lstStyle/>
          <a:p>
            <a:pPr marL="0" indent="0">
              <a:buNone/>
            </a:pPr>
            <a:r>
              <a:rPr lang="en-US" sz="1500" b="1" dirty="0">
                <a:solidFill>
                  <a:srgbClr val="F4A300"/>
                </a:solidFill>
                <a:latin typeface="Cambria" pitchFamily="34" charset="0"/>
                <a:ea typeface="Cambria" pitchFamily="34" charset="-122"/>
                <a:cs typeface="Cambria" pitchFamily="34" charset="-120"/>
              </a:rPr>
              <a:t>4</a:t>
            </a:r>
            <a:endParaRPr lang="en-US" sz="1500" dirty="0"/>
          </a:p>
        </p:txBody>
      </p:sp>
      <p:sp>
        <p:nvSpPr>
          <p:cNvPr id="23" name="Text 20"/>
          <p:cNvSpPr/>
          <p:nvPr/>
        </p:nvSpPr>
        <p:spPr>
          <a:xfrm>
            <a:off x="7187184" y="2212848"/>
            <a:ext cx="1655064" cy="36576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GridSearchCV</a:t>
            </a:r>
            <a:endParaRPr lang="en-US" sz="1400" dirty="0"/>
          </a:p>
        </p:txBody>
      </p:sp>
      <p:sp>
        <p:nvSpPr>
          <p:cNvPr id="24" name="Text 21"/>
          <p:cNvSpPr/>
          <p:nvPr/>
        </p:nvSpPr>
        <p:spPr>
          <a:xfrm>
            <a:off x="7187184" y="2578608"/>
            <a:ext cx="1655064" cy="594360"/>
          </a:xfrm>
          <a:prstGeom prst="rect">
            <a:avLst/>
          </a:prstGeom>
          <a:noFill/>
          <a:ln/>
        </p:spPr>
        <p:txBody>
          <a:bodyPr wrap="square" lIns="0" tIns="0" rIns="0" bIns="0" rtlCol="0" anchor="ctr"/>
          <a:lstStyle/>
          <a:p>
            <a:pPr marL="0" indent="0">
              <a:lnSpc>
                <a:spcPct val="115000"/>
              </a:lnSpc>
              <a:buNone/>
            </a:pPr>
            <a:r>
              <a:rPr lang="en-US" sz="1050" dirty="0">
                <a:solidFill>
                  <a:srgbClr val="6B7A9E"/>
                </a:solidFill>
                <a:latin typeface="Calibri" pitchFamily="34" charset="0"/>
                <a:ea typeface="Calibri" pitchFamily="34" charset="-122"/>
                <a:cs typeface="Calibri" pitchFamily="34" charset="-120"/>
              </a:rPr>
              <a:t>StratifiedKFold</a:t>
            </a:r>
            <a:endParaRPr lang="en-US" sz="1050" dirty="0"/>
          </a:p>
          <a:p>
            <a:pPr marL="0" indent="0">
              <a:lnSpc>
                <a:spcPct val="115000"/>
              </a:lnSpc>
              <a:buNone/>
            </a:pPr>
            <a:r>
              <a:rPr lang="en-US" sz="1050" dirty="0">
                <a:solidFill>
                  <a:srgbClr val="6B7A9E"/>
                </a:solidFill>
                <a:latin typeface="Calibri" pitchFamily="34" charset="0"/>
                <a:ea typeface="Calibri" pitchFamily="34" charset="-122"/>
                <a:cs typeface="Calibri" pitchFamily="34" charset="-120"/>
              </a:rPr>
              <a:t>tuning</a:t>
            </a:r>
            <a:endParaRPr lang="en-US" sz="1050" dirty="0"/>
          </a:p>
        </p:txBody>
      </p:sp>
      <p:sp>
        <p:nvSpPr>
          <p:cNvPr id="25" name="Text 22"/>
          <p:cNvSpPr/>
          <p:nvPr/>
        </p:nvSpPr>
        <p:spPr>
          <a:xfrm>
            <a:off x="8951976" y="1828800"/>
            <a:ext cx="256032" cy="1417320"/>
          </a:xfrm>
          <a:prstGeom prst="rect">
            <a:avLst/>
          </a:prstGeom>
          <a:noFill/>
          <a:ln/>
        </p:spPr>
        <p:txBody>
          <a:bodyPr wrap="square" lIns="0" tIns="0" rIns="0" bIns="0" rtlCol="0" anchor="ctr"/>
          <a:lstStyle/>
          <a:p>
            <a:pPr marL="0" indent="0" algn="ctr">
              <a:buNone/>
            </a:pPr>
            <a:r>
              <a:rPr lang="en-US" sz="2000" b="1" dirty="0">
                <a:solidFill>
                  <a:srgbClr val="F4A300"/>
                </a:solidFill>
                <a:latin typeface="Calibri" pitchFamily="34" charset="0"/>
                <a:ea typeface="Calibri" pitchFamily="34" charset="-122"/>
                <a:cs typeface="Calibri" pitchFamily="34" charset="-120"/>
              </a:rPr>
              <a:t>→</a:t>
            </a:r>
            <a:endParaRPr lang="en-US" sz="2000" dirty="0"/>
          </a:p>
        </p:txBody>
      </p:sp>
      <p:sp>
        <p:nvSpPr>
          <p:cNvPr id="26" name="Shape 23"/>
          <p:cNvSpPr/>
          <p:nvPr/>
        </p:nvSpPr>
        <p:spPr>
          <a:xfrm>
            <a:off x="9208008" y="1828800"/>
            <a:ext cx="1874520" cy="1417320"/>
          </a:xfrm>
          <a:prstGeom prst="roundRect">
            <a:avLst>
              <a:gd name="adj" fmla="val 5161"/>
            </a:avLst>
          </a:prstGeom>
          <a:solidFill>
            <a:srgbClr val="EEF3FC"/>
          </a:solidFill>
          <a:ln/>
          <a:effectLst>
            <a:outerShdw blurRad="76200" dist="25400" dir="5400000" algn="bl" rotWithShape="0">
              <a:srgbClr val="0B1330">
                <a:alpha val="12000"/>
              </a:srgbClr>
            </a:outerShdw>
          </a:effectLst>
        </p:spPr>
        <p:txBody>
          <a:bodyPr/>
          <a:lstStyle/>
          <a:p>
            <a:endParaRPr lang="en-US"/>
          </a:p>
        </p:txBody>
      </p:sp>
      <p:sp>
        <p:nvSpPr>
          <p:cNvPr id="27" name="Text 24"/>
          <p:cNvSpPr/>
          <p:nvPr/>
        </p:nvSpPr>
        <p:spPr>
          <a:xfrm>
            <a:off x="9299448" y="1901952"/>
            <a:ext cx="457200" cy="320040"/>
          </a:xfrm>
          <a:prstGeom prst="rect">
            <a:avLst/>
          </a:prstGeom>
          <a:noFill/>
          <a:ln/>
        </p:spPr>
        <p:txBody>
          <a:bodyPr wrap="square" lIns="0" tIns="0" rIns="0" bIns="0" rtlCol="0" anchor="ctr"/>
          <a:lstStyle/>
          <a:p>
            <a:pPr marL="0" indent="0">
              <a:buNone/>
            </a:pPr>
            <a:r>
              <a:rPr lang="en-US" sz="1500" b="1" dirty="0">
                <a:solidFill>
                  <a:srgbClr val="F4A300"/>
                </a:solidFill>
                <a:latin typeface="Cambria" pitchFamily="34" charset="0"/>
                <a:ea typeface="Cambria" pitchFamily="34" charset="-122"/>
                <a:cs typeface="Cambria" pitchFamily="34" charset="-120"/>
              </a:rPr>
              <a:t>5</a:t>
            </a:r>
            <a:endParaRPr lang="en-US" sz="1500" dirty="0"/>
          </a:p>
        </p:txBody>
      </p:sp>
      <p:sp>
        <p:nvSpPr>
          <p:cNvPr id="28" name="Text 25"/>
          <p:cNvSpPr/>
          <p:nvPr/>
        </p:nvSpPr>
        <p:spPr>
          <a:xfrm>
            <a:off x="9317736" y="2212848"/>
            <a:ext cx="1655064" cy="36576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Evaluate</a:t>
            </a:r>
            <a:endParaRPr lang="en-US" sz="1400" dirty="0"/>
          </a:p>
        </p:txBody>
      </p:sp>
      <p:sp>
        <p:nvSpPr>
          <p:cNvPr id="29" name="Text 26"/>
          <p:cNvSpPr/>
          <p:nvPr/>
        </p:nvSpPr>
        <p:spPr>
          <a:xfrm>
            <a:off x="9317736" y="2578608"/>
            <a:ext cx="1655064" cy="594360"/>
          </a:xfrm>
          <a:prstGeom prst="rect">
            <a:avLst/>
          </a:prstGeom>
          <a:noFill/>
          <a:ln/>
        </p:spPr>
        <p:txBody>
          <a:bodyPr wrap="square" lIns="0" tIns="0" rIns="0" bIns="0" rtlCol="0" anchor="ctr"/>
          <a:lstStyle/>
          <a:p>
            <a:pPr marL="0" indent="0">
              <a:lnSpc>
                <a:spcPct val="115000"/>
              </a:lnSpc>
              <a:buNone/>
            </a:pPr>
            <a:r>
              <a:rPr lang="en-US" sz="1050" dirty="0">
                <a:solidFill>
                  <a:srgbClr val="6B7A9E"/>
                </a:solidFill>
                <a:latin typeface="Calibri" pitchFamily="34" charset="0"/>
                <a:ea typeface="Calibri" pitchFamily="34" charset="-122"/>
                <a:cs typeface="Calibri" pitchFamily="34" charset="-120"/>
              </a:rPr>
              <a:t>On the held-out</a:t>
            </a:r>
            <a:endParaRPr lang="en-US" sz="1050" dirty="0"/>
          </a:p>
          <a:p>
            <a:pPr marL="0" indent="0">
              <a:lnSpc>
                <a:spcPct val="115000"/>
              </a:lnSpc>
              <a:buNone/>
            </a:pPr>
            <a:r>
              <a:rPr lang="en-US" sz="1050" dirty="0">
                <a:solidFill>
                  <a:srgbClr val="6B7A9E"/>
                </a:solidFill>
                <a:latin typeface="Calibri" pitchFamily="34" charset="0"/>
                <a:ea typeface="Calibri" pitchFamily="34" charset="-122"/>
                <a:cs typeface="Calibri" pitchFamily="34" charset="-120"/>
              </a:rPr>
              <a:t>test set</a:t>
            </a:r>
            <a:endParaRPr lang="en-US" sz="1050" dirty="0"/>
          </a:p>
        </p:txBody>
      </p:sp>
      <p:sp>
        <p:nvSpPr>
          <p:cNvPr id="30" name="Shape 27"/>
          <p:cNvSpPr/>
          <p:nvPr/>
        </p:nvSpPr>
        <p:spPr>
          <a:xfrm>
            <a:off x="685800" y="3566160"/>
            <a:ext cx="5257800" cy="1691640"/>
          </a:xfrm>
          <a:prstGeom prst="roundRect">
            <a:avLst>
              <a:gd name="adj" fmla="val 4324"/>
            </a:avLst>
          </a:prstGeom>
          <a:solidFill>
            <a:srgbClr val="EEF3FC"/>
          </a:solidFill>
          <a:ln/>
          <a:effectLst>
            <a:outerShdw blurRad="76200" dist="25400" dir="5400000" algn="bl" rotWithShape="0">
              <a:srgbClr val="0B1330">
                <a:alpha val="12000"/>
              </a:srgbClr>
            </a:outerShdw>
          </a:effectLst>
        </p:spPr>
        <p:txBody>
          <a:bodyPr/>
          <a:lstStyle/>
          <a:p>
            <a:endParaRPr lang="en-US"/>
          </a:p>
        </p:txBody>
      </p:sp>
      <p:sp>
        <p:nvSpPr>
          <p:cNvPr id="31" name="Text 28"/>
          <p:cNvSpPr/>
          <p:nvPr/>
        </p:nvSpPr>
        <p:spPr>
          <a:xfrm>
            <a:off x="960120" y="3730752"/>
            <a:ext cx="475488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Best Hyperparameters</a:t>
            </a:r>
            <a:endParaRPr lang="en-US" sz="1450" dirty="0"/>
          </a:p>
        </p:txBody>
      </p:sp>
      <p:sp>
        <p:nvSpPr>
          <p:cNvPr id="32" name="Text 29"/>
          <p:cNvSpPr/>
          <p:nvPr/>
        </p:nvSpPr>
        <p:spPr>
          <a:xfrm>
            <a:off x="960120" y="4096512"/>
            <a:ext cx="4754880" cy="1097280"/>
          </a:xfrm>
          <a:prstGeom prst="rect">
            <a:avLst/>
          </a:prstGeom>
          <a:noFill/>
          <a:ln/>
        </p:spPr>
        <p:txBody>
          <a:bodyPr wrap="square" lIns="0" tIns="0" rIns="0" bIns="0" rtlCol="0" anchor="ctr"/>
          <a:lstStyle/>
          <a:p>
            <a:pPr marL="0" indent="0">
              <a:lnSpc>
                <a:spcPct val="130000"/>
              </a:lnSpc>
              <a:buNone/>
            </a:pPr>
            <a:r>
              <a:rPr lang="en-US" sz="1300" b="1" dirty="0">
                <a:solidFill>
                  <a:srgbClr val="1E2761"/>
                </a:solidFill>
                <a:latin typeface="Calibri" pitchFamily="34" charset="0"/>
                <a:ea typeface="Calibri" pitchFamily="34" charset="-122"/>
                <a:cs typeface="Calibri" pitchFamily="34" charset="-120"/>
              </a:rPr>
              <a:t>Logistic Regression:  </a:t>
            </a:r>
            <a:endParaRPr lang="en-US" sz="1300" dirty="0"/>
          </a:p>
          <a:p>
            <a:pPr marL="0" indent="0">
              <a:lnSpc>
                <a:spcPct val="130000"/>
              </a:lnSpc>
              <a:buNone/>
            </a:pPr>
            <a:r>
              <a:rPr lang="en-US" sz="1300" dirty="0">
                <a:solidFill>
                  <a:srgbClr val="1B2140"/>
                </a:solidFill>
                <a:latin typeface="Calibri" pitchFamily="34" charset="0"/>
                <a:ea typeface="Calibri" pitchFamily="34" charset="-122"/>
                <a:cs typeface="Calibri" pitchFamily="34" charset="-120"/>
              </a:rPr>
              <a:t>C = 0.01,  k_neighbors = 5</a:t>
            </a:r>
            <a:endParaRPr lang="en-US" sz="1300" dirty="0"/>
          </a:p>
          <a:p>
            <a:pPr marL="0" indent="0">
              <a:lnSpc>
                <a:spcPct val="130000"/>
              </a:lnSpc>
              <a:buNone/>
            </a:pPr>
            <a:endParaRPr lang="en-US" sz="1300" dirty="0"/>
          </a:p>
          <a:p>
            <a:pPr marL="0" indent="0">
              <a:lnSpc>
                <a:spcPct val="130000"/>
              </a:lnSpc>
              <a:buNone/>
            </a:pPr>
            <a:r>
              <a:rPr lang="en-US" sz="1300" b="1" dirty="0">
                <a:solidFill>
                  <a:srgbClr val="1E2761"/>
                </a:solidFill>
                <a:latin typeface="Calibri" pitchFamily="34" charset="0"/>
                <a:ea typeface="Calibri" pitchFamily="34" charset="-122"/>
                <a:cs typeface="Calibri" pitchFamily="34" charset="-120"/>
              </a:rPr>
              <a:t>Random Forest:  </a:t>
            </a:r>
            <a:endParaRPr lang="en-US" sz="1300" dirty="0"/>
          </a:p>
          <a:p>
            <a:pPr marL="0" indent="0">
              <a:lnSpc>
                <a:spcPct val="130000"/>
              </a:lnSpc>
              <a:buNone/>
            </a:pPr>
            <a:r>
              <a:rPr lang="en-US" sz="1300" dirty="0">
                <a:solidFill>
                  <a:srgbClr val="1B2140"/>
                </a:solidFill>
                <a:latin typeface="Calibri" pitchFamily="34" charset="0"/>
                <a:ea typeface="Calibri" pitchFamily="34" charset="-122"/>
                <a:cs typeface="Calibri" pitchFamily="34" charset="-120"/>
              </a:rPr>
              <a:t>max_depth = 10,  k_neighbors = 3</a:t>
            </a:r>
            <a:endParaRPr lang="en-US" sz="1300" dirty="0"/>
          </a:p>
        </p:txBody>
      </p:sp>
      <p:sp>
        <p:nvSpPr>
          <p:cNvPr id="33" name="Shape 30"/>
          <p:cNvSpPr/>
          <p:nvPr/>
        </p:nvSpPr>
        <p:spPr>
          <a:xfrm>
            <a:off x="6172200" y="3566160"/>
            <a:ext cx="5303520" cy="1691640"/>
          </a:xfrm>
          <a:prstGeom prst="roundRect">
            <a:avLst>
              <a:gd name="adj" fmla="val 4324"/>
            </a:avLst>
          </a:prstGeom>
          <a:solidFill>
            <a:srgbClr val="1E2761"/>
          </a:solidFill>
          <a:ln/>
          <a:effectLst>
            <a:outerShdw blurRad="76200" dist="25400" dir="5400000" algn="bl" rotWithShape="0">
              <a:srgbClr val="0B1330">
                <a:alpha val="12000"/>
              </a:srgbClr>
            </a:outerShdw>
          </a:effectLst>
        </p:spPr>
        <p:txBody>
          <a:bodyPr/>
          <a:lstStyle/>
          <a:p>
            <a:endParaRPr lang="en-US"/>
          </a:p>
        </p:txBody>
      </p:sp>
      <p:sp>
        <p:nvSpPr>
          <p:cNvPr id="34" name="Text 31"/>
          <p:cNvSpPr/>
          <p:nvPr/>
        </p:nvSpPr>
        <p:spPr>
          <a:xfrm>
            <a:off x="6446520" y="3730752"/>
            <a:ext cx="4754880" cy="320040"/>
          </a:xfrm>
          <a:prstGeom prst="rect">
            <a:avLst/>
          </a:prstGeom>
          <a:noFill/>
          <a:ln/>
        </p:spPr>
        <p:txBody>
          <a:bodyPr wrap="square" lIns="0" tIns="0" rIns="0" bIns="0" rtlCol="0" anchor="ctr"/>
          <a:lstStyle/>
          <a:p>
            <a:pPr marL="0" indent="0">
              <a:buNone/>
            </a:pPr>
            <a:r>
              <a:rPr lang="en-US" sz="1450" b="1" dirty="0">
                <a:solidFill>
                  <a:srgbClr val="F4A300"/>
                </a:solidFill>
                <a:latin typeface="Cambria" pitchFamily="34" charset="0"/>
                <a:ea typeface="Cambria" pitchFamily="34" charset="-122"/>
                <a:cs typeface="Cambria" pitchFamily="34" charset="-120"/>
              </a:rPr>
              <a:t>Why SMOTE sits inside the pipeline</a:t>
            </a:r>
            <a:endParaRPr lang="en-US" sz="1450" dirty="0"/>
          </a:p>
        </p:txBody>
      </p:sp>
      <p:sp>
        <p:nvSpPr>
          <p:cNvPr id="35" name="Text 32"/>
          <p:cNvSpPr/>
          <p:nvPr/>
        </p:nvSpPr>
        <p:spPr>
          <a:xfrm>
            <a:off x="6446520" y="4069080"/>
            <a:ext cx="4754880" cy="1143000"/>
          </a:xfrm>
          <a:prstGeom prst="rect">
            <a:avLst/>
          </a:prstGeom>
          <a:noFill/>
          <a:ln/>
        </p:spPr>
        <p:txBody>
          <a:bodyPr wrap="square" lIns="0" tIns="0" rIns="0" bIns="0" rtlCol="0" anchor="ctr"/>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Generating synthetic samples before the split lets information leak from test data into training. Placing SMOTE inside the pipeline means it runs only on each training fold, never touching the test set.</a:t>
            </a:r>
            <a:endParaRPr lang="en-US" sz="1250" dirty="0"/>
          </a:p>
        </p:txBody>
      </p:sp>
      <p:sp>
        <p:nvSpPr>
          <p:cNvPr id="36" name="Text 33"/>
          <p:cNvSpPr/>
          <p:nvPr/>
        </p:nvSpPr>
        <p:spPr>
          <a:xfrm>
            <a:off x="548640" y="6528816"/>
            <a:ext cx="7772400" cy="274320"/>
          </a:xfrm>
          <a:prstGeom prst="rect">
            <a:avLst/>
          </a:prstGeom>
          <a:noFill/>
          <a:ln/>
        </p:spPr>
        <p:txBody>
          <a:bodyPr wrap="square" lIns="0" tIns="0" rIns="0" bIns="0" rtlCol="0" anchor="ctr"/>
          <a:lstStyle/>
          <a:p>
            <a:pPr marL="0" indent="0" algn="l">
              <a:buNone/>
            </a:pPr>
            <a:r>
              <a:rPr lang="en-US" sz="900" kern="0" spc="100" dirty="0">
                <a:solidFill>
                  <a:srgbClr val="6B7A9E"/>
                </a:solidFill>
                <a:latin typeface="Calibri" pitchFamily="34" charset="0"/>
                <a:ea typeface="Calibri" pitchFamily="34" charset="-122"/>
                <a:cs typeface="Calibri" pitchFamily="34" charset="-120"/>
              </a:rPr>
              <a:t>YASHIL  ·  DECODELABS DATA SCIENCE INTERNSHIP</a:t>
            </a:r>
            <a:endParaRPr lang="en-US" sz="900" dirty="0"/>
          </a:p>
        </p:txBody>
      </p:sp>
      <p:sp>
        <p:nvSpPr>
          <p:cNvPr id="37" name="Text 34"/>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900" dirty="0">
                <a:solidFill>
                  <a:srgbClr val="6B7A9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601200" cy="292608"/>
          </a:xfrm>
          <a:prstGeom prst="rect">
            <a:avLst/>
          </a:prstGeom>
          <a:noFill/>
          <a:ln/>
        </p:spPr>
        <p:txBody>
          <a:bodyPr wrap="square" lIns="0" tIns="0" rIns="0" bIns="0"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TASK 2 · RESULTS</a:t>
            </a:r>
            <a:endParaRPr lang="en-US" sz="1200" dirty="0"/>
          </a:p>
        </p:txBody>
      </p:sp>
      <p:sp>
        <p:nvSpPr>
          <p:cNvPr id="3" name="Text 1"/>
          <p:cNvSpPr/>
          <p:nvPr/>
        </p:nvSpPr>
        <p:spPr>
          <a:xfrm>
            <a:off x="640080" y="658368"/>
            <a:ext cx="9784080" cy="640080"/>
          </a:xfrm>
          <a:prstGeom prst="rect">
            <a:avLst/>
          </a:prstGeom>
          <a:noFill/>
          <a:ln/>
        </p:spPr>
        <p:txBody>
          <a:bodyPr wrap="square" lIns="0" tIns="0" rIns="0" bIns="0" rtlCol="0" anchor="t"/>
          <a:lstStyle/>
          <a:p>
            <a:pPr marL="0" indent="0">
              <a:buNone/>
            </a:pPr>
            <a:r>
              <a:rPr lang="en-US" sz="2800" b="1" dirty="0">
                <a:solidFill>
                  <a:srgbClr val="1E2761"/>
                </a:solidFill>
                <a:latin typeface="Cambria" pitchFamily="34" charset="0"/>
                <a:ea typeface="Cambria" pitchFamily="34" charset="-122"/>
                <a:cs typeface="Cambria" pitchFamily="34" charset="-120"/>
              </a:rPr>
              <a:t>Logistic Regression vs. Random Forest</a:t>
            </a:r>
            <a:endParaRPr lang="en-US" sz="2800" dirty="0"/>
          </a:p>
        </p:txBody>
      </p:sp>
      <p:sp>
        <p:nvSpPr>
          <p:cNvPr id="4" name="Shape 2"/>
          <p:cNvSpPr/>
          <p:nvPr/>
        </p:nvSpPr>
        <p:spPr>
          <a:xfrm>
            <a:off x="10817352" y="502920"/>
            <a:ext cx="777240" cy="777240"/>
          </a:xfrm>
          <a:prstGeom prst="ellipse">
            <a:avLst/>
          </a:prstGeom>
          <a:solidFill>
            <a:srgbClr val="1E2761"/>
          </a:solidFill>
          <a:ln/>
        </p:spPr>
        <p:txBody>
          <a:bodyPr/>
          <a:lstStyle/>
          <a:p>
            <a:endParaRPr/>
          </a:p>
        </p:txBody>
      </p:sp>
      <p:pic>
        <p:nvPicPr>
          <p:cNvPr id="5" name="Image 0" descr="/home/claude/decodelabs_deck/assets/barchart_white.png"/>
          <p:cNvPicPr>
            <a:picLocks noChangeAspect="1"/>
          </p:cNvPicPr>
          <p:nvPr/>
        </p:nvPicPr>
        <p:blipFill>
          <a:blip r:embed="rId3"/>
          <a:stretch>
            <a:fillRect/>
          </a:stretch>
        </p:blipFill>
        <p:spPr>
          <a:xfrm>
            <a:off x="11000232" y="685800"/>
            <a:ext cx="411480" cy="411480"/>
          </a:xfrm>
          <a:prstGeom prst="rect">
            <a:avLst/>
          </a:prstGeom>
        </p:spPr>
      </p:pic>
      <p:graphicFrame>
        <p:nvGraphicFramePr>
          <p:cNvPr id="6" name="Chart 0"/>
          <p:cNvGraphicFramePr/>
          <p:nvPr/>
        </p:nvGraphicFramePr>
        <p:xfrm>
          <a:off x="685800" y="1645920"/>
          <a:ext cx="6949440" cy="416052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7818120" y="1645920"/>
            <a:ext cx="3703320" cy="4160520"/>
          </a:xfrm>
          <a:prstGeom prst="roundRect">
            <a:avLst>
              <a:gd name="adj" fmla="val 1975"/>
            </a:avLst>
          </a:prstGeom>
          <a:solidFill>
            <a:srgbClr val="EEF3FC"/>
          </a:solidFill>
          <a:ln/>
          <a:effectLst>
            <a:outerShdw blurRad="76200" dist="25400" dir="5400000" algn="bl" rotWithShape="0">
              <a:srgbClr val="0B1330">
                <a:alpha val="12000"/>
              </a:srgbClr>
            </a:outerShdw>
          </a:effectLst>
        </p:spPr>
        <p:txBody>
          <a:bodyPr/>
          <a:lstStyle/>
          <a:p>
            <a:endParaRPr/>
          </a:p>
        </p:txBody>
      </p:sp>
      <p:sp>
        <p:nvSpPr>
          <p:cNvPr id="8" name="Text 4"/>
          <p:cNvSpPr/>
          <p:nvPr/>
        </p:nvSpPr>
        <p:spPr>
          <a:xfrm>
            <a:off x="8092440" y="1810512"/>
            <a:ext cx="320040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Quick Read</a:t>
            </a:r>
            <a:endParaRPr lang="en-US" sz="1450" dirty="0"/>
          </a:p>
        </p:txBody>
      </p:sp>
      <p:sp>
        <p:nvSpPr>
          <p:cNvPr id="9" name="Text 5"/>
          <p:cNvSpPr/>
          <p:nvPr/>
        </p:nvSpPr>
        <p:spPr>
          <a:xfrm>
            <a:off x="8092440" y="2148840"/>
            <a:ext cx="3246120" cy="3474720"/>
          </a:xfrm>
          <a:prstGeom prst="rect">
            <a:avLst/>
          </a:prstGeom>
          <a:noFill/>
          <a:ln/>
        </p:spPr>
        <p:txBody>
          <a:bodyPr wrap="square" lIns="0" tIns="0" rIns="0" bIns="0" rtlCol="0" anchor="ctr"/>
          <a:lstStyle/>
          <a:p>
            <a:pPr marL="0" indent="0">
              <a:lnSpc>
                <a:spcPct val="130000"/>
              </a:lnSpc>
              <a:buNone/>
            </a:pPr>
            <a:r>
              <a:rPr lang="en-US" sz="1250" b="1" dirty="0">
                <a:solidFill>
                  <a:srgbClr val="1E2761"/>
                </a:solidFill>
                <a:latin typeface="Calibri" pitchFamily="34" charset="0"/>
                <a:ea typeface="Calibri" pitchFamily="34" charset="-122"/>
                <a:cs typeface="Calibri" pitchFamily="34" charset="-120"/>
              </a:rPr>
              <a:t>Random Forest</a:t>
            </a:r>
            <a:endParaRPr lang="en-US" sz="1250" dirty="0"/>
          </a:p>
          <a:p>
            <a:pPr marL="0" indent="0">
              <a:lnSpc>
                <a:spcPct val="130000"/>
              </a:lnSpc>
              <a:buNone/>
            </a:pPr>
            <a:r>
              <a:rPr lang="en-US" sz="1250" dirty="0">
                <a:solidFill>
                  <a:srgbClr val="1B2140"/>
                </a:solidFill>
                <a:latin typeface="Calibri" pitchFamily="34" charset="0"/>
                <a:ea typeface="Calibri" pitchFamily="34" charset="-122"/>
                <a:cs typeface="Calibri" pitchFamily="34" charset="-120"/>
              </a:rPr>
              <a:t>Higher precision (0.55 vs 0.06), higher F1 (0.68 vs 0.11), higher ROC-AUC (0.983 vs 0.972).</a:t>
            </a:r>
            <a:endParaRPr lang="en-US" sz="1250" dirty="0"/>
          </a:p>
          <a:p>
            <a:pPr marL="0" indent="0">
              <a:lnSpc>
                <a:spcPct val="130000"/>
              </a:lnSpc>
              <a:buNone/>
            </a:pPr>
            <a:endParaRPr lang="en-US" sz="1250" dirty="0"/>
          </a:p>
          <a:p>
            <a:pPr marL="0" indent="0">
              <a:lnSpc>
                <a:spcPct val="130000"/>
              </a:lnSpc>
              <a:buNone/>
            </a:pPr>
            <a:r>
              <a:rPr lang="en-US" sz="1250" b="1" dirty="0">
                <a:solidFill>
                  <a:srgbClr val="1E2761"/>
                </a:solidFill>
                <a:latin typeface="Calibri" pitchFamily="34" charset="0"/>
                <a:ea typeface="Calibri" pitchFamily="34" charset="-122"/>
                <a:cs typeface="Calibri" pitchFamily="34" charset="-120"/>
              </a:rPr>
              <a:t>Logistic Regression</a:t>
            </a:r>
            <a:endParaRPr lang="en-US" sz="1250" dirty="0"/>
          </a:p>
          <a:p>
            <a:pPr marL="0" indent="0">
              <a:lnSpc>
                <a:spcPct val="130000"/>
              </a:lnSpc>
              <a:buNone/>
            </a:pPr>
            <a:r>
              <a:rPr lang="en-US" sz="1250" dirty="0">
                <a:solidFill>
                  <a:srgbClr val="1B2140"/>
                </a:solidFill>
                <a:latin typeface="Calibri" pitchFamily="34" charset="0"/>
                <a:ea typeface="Calibri" pitchFamily="34" charset="-122"/>
                <a:cs typeface="Calibri" pitchFamily="34" charset="-120"/>
              </a:rPr>
              <a:t>Higher recall (0.918 vs 0.878) — it catches slightly more fraud, at the cost of far more false alarms.</a:t>
            </a:r>
            <a:endParaRPr lang="en-US" sz="1250" dirty="0"/>
          </a:p>
          <a:p>
            <a:r>
              <a:rPr sz="1250" b="1">
                <a:solidFill>
                  <a:srgbClr val="1E2761"/>
                </a:solidFill>
                <a:latin typeface="Calibri"/>
              </a:rPr>
              <a:t>ROC-AUC vs PR-AUC</a:t>
            </a:r>
          </a:p>
          <a:p>
            <a:r>
              <a:rPr sz="1100" b="0">
                <a:solidFill>
                  <a:srgbClr val="6B7A9E"/>
                </a:solidFill>
                <a:latin typeface="Calibri"/>
              </a:rPr>
              <a:t>ROC-AUC is close (0.971 vs 0.983), but PR-AUC exposes the real gap: 0.713 vs 0.816.</a:t>
            </a:r>
          </a:p>
        </p:txBody>
      </p:sp>
      <p:sp>
        <p:nvSpPr>
          <p:cNvPr id="10" name="Text 6"/>
          <p:cNvSpPr/>
          <p:nvPr/>
        </p:nvSpPr>
        <p:spPr>
          <a:xfrm>
            <a:off x="548640" y="6528816"/>
            <a:ext cx="7772400" cy="274320"/>
          </a:xfrm>
          <a:prstGeom prst="rect">
            <a:avLst/>
          </a:prstGeom>
          <a:noFill/>
          <a:ln/>
        </p:spPr>
        <p:txBody>
          <a:bodyPr wrap="square" lIns="0" tIns="0" rIns="0" bIns="0" rtlCol="0" anchor="ctr"/>
          <a:lstStyle/>
          <a:p>
            <a:pPr marL="0" indent="0" algn="l">
              <a:buNone/>
            </a:pPr>
            <a:r>
              <a:rPr lang="en-US" sz="900" kern="0" spc="100" dirty="0">
                <a:solidFill>
                  <a:srgbClr val="6B7A9E"/>
                </a:solidFill>
                <a:latin typeface="Calibri" pitchFamily="34" charset="0"/>
                <a:ea typeface="Calibri" pitchFamily="34" charset="-122"/>
                <a:cs typeface="Calibri" pitchFamily="34" charset="-120"/>
              </a:rPr>
              <a:t>YASHIL  ·  DECODELABS DATA SCIENCE INTERNSHIP</a:t>
            </a:r>
            <a:endParaRPr lang="en-US" sz="900" dirty="0"/>
          </a:p>
        </p:txBody>
      </p:sp>
      <p:sp>
        <p:nvSpPr>
          <p:cNvPr id="11" name="Text 7"/>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900" dirty="0">
                <a:solidFill>
                  <a:srgbClr val="6B7A9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9601200" cy="292608"/>
          </a:xfrm>
          <a:prstGeom prst="rect">
            <a:avLst/>
          </a:prstGeom>
          <a:noFill/>
        </p:spPr>
        <p:txBody>
          <a:bodyPr wrap="square">
            <a:spAutoFit/>
          </a:bodyPr>
          <a:lstStyle/>
          <a:p>
            <a:r>
              <a:rPr sz="1200" b="1">
                <a:solidFill>
                  <a:srgbClr val="F4A300"/>
                </a:solidFill>
                <a:latin typeface="Calibri"/>
              </a:rPr>
              <a:t>TASK 2 · CHOOSING THE RIGHT METRIC</a:t>
            </a:r>
          </a:p>
        </p:txBody>
      </p:sp>
      <p:sp>
        <p:nvSpPr>
          <p:cNvPr id="3" name="TextBox 2"/>
          <p:cNvSpPr txBox="1"/>
          <p:nvPr/>
        </p:nvSpPr>
        <p:spPr>
          <a:xfrm>
            <a:off x="640080" y="658368"/>
            <a:ext cx="9784080" cy="640080"/>
          </a:xfrm>
          <a:prstGeom prst="rect">
            <a:avLst/>
          </a:prstGeom>
          <a:noFill/>
        </p:spPr>
        <p:txBody>
          <a:bodyPr wrap="square">
            <a:spAutoFit/>
          </a:bodyPr>
          <a:lstStyle/>
          <a:p>
            <a:r>
              <a:rPr sz="2800" b="1">
                <a:solidFill>
                  <a:srgbClr val="1E2761"/>
                </a:solidFill>
                <a:latin typeface="Cambria"/>
              </a:rPr>
              <a:t>Why We Judge on PR-AUC, Not Accuracy</a:t>
            </a:r>
          </a:p>
        </p:txBody>
      </p:sp>
      <p:sp>
        <p:nvSpPr>
          <p:cNvPr id="4" name="TextBox 3"/>
          <p:cNvSpPr txBox="1"/>
          <p:nvPr/>
        </p:nvSpPr>
        <p:spPr>
          <a:xfrm>
            <a:off x="548640" y="6528816"/>
            <a:ext cx="7772400" cy="274320"/>
          </a:xfrm>
          <a:prstGeom prst="rect">
            <a:avLst/>
          </a:prstGeom>
          <a:noFill/>
        </p:spPr>
        <p:txBody>
          <a:bodyPr wrap="square">
            <a:spAutoFit/>
          </a:bodyPr>
          <a:lstStyle/>
          <a:p>
            <a:r>
              <a:rPr sz="900" b="0">
                <a:solidFill>
                  <a:srgbClr val="6B7A9E"/>
                </a:solidFill>
                <a:latin typeface="Calibri"/>
              </a:rPr>
              <a:t>YASHIL  ·  DECODELABS DATA SCIENCE INTERNSHIP</a:t>
            </a:r>
          </a:p>
        </p:txBody>
      </p:sp>
      <p:sp>
        <p:nvSpPr>
          <p:cNvPr id="5" name="TextBox 4"/>
          <p:cNvSpPr txBox="1"/>
          <p:nvPr/>
        </p:nvSpPr>
        <p:spPr>
          <a:xfrm>
            <a:off x="11183112" y="6528816"/>
            <a:ext cx="457200" cy="274320"/>
          </a:xfrm>
          <a:prstGeom prst="rect">
            <a:avLst/>
          </a:prstGeom>
          <a:noFill/>
        </p:spPr>
        <p:txBody>
          <a:bodyPr wrap="square">
            <a:spAutoFit/>
          </a:bodyPr>
          <a:lstStyle/>
          <a:p>
            <a:r>
              <a:rPr sz="900" b="0">
                <a:solidFill>
                  <a:srgbClr val="6B7A9E"/>
                </a:solidFill>
                <a:latin typeface="Calibri"/>
              </a:rPr>
              <a:t>12</a:t>
            </a:r>
          </a:p>
        </p:txBody>
      </p:sp>
      <p:sp>
        <p:nvSpPr>
          <p:cNvPr id="6" name="TextBox 5"/>
          <p:cNvSpPr txBox="1"/>
          <p:nvPr/>
        </p:nvSpPr>
        <p:spPr>
          <a:xfrm>
            <a:off x="685800" y="1760000"/>
            <a:ext cx="10820400" cy="820000"/>
          </a:xfrm>
          <a:prstGeom prst="rect">
            <a:avLst/>
          </a:prstGeom>
          <a:noFill/>
        </p:spPr>
        <p:txBody>
          <a:bodyPr wrap="square">
            <a:spAutoFit/>
          </a:bodyPr>
          <a:lstStyle/>
          <a:p>
            <a:r>
              <a:rPr sz="1450" b="1">
                <a:solidFill>
                  <a:srgbClr val="1E2761"/>
                </a:solidFill>
                <a:latin typeface="Cambria"/>
              </a:rPr>
              <a:t>Accuracy is a trap</a:t>
            </a:r>
          </a:p>
          <a:p>
            <a:r>
              <a:rPr sz="1200" b="0">
                <a:solidFill>
                  <a:srgbClr val="1B2140"/>
                </a:solidFill>
                <a:latin typeface="Calibri"/>
              </a:rPr>
              <a:t>Predicting "legitimate" every single time scores 99.83% accuracy and catches zero fraud. Useless on a 0.173% problem.</a:t>
            </a:r>
          </a:p>
        </p:txBody>
      </p:sp>
      <p:sp>
        <p:nvSpPr>
          <p:cNvPr id="7" name="TextBox 6"/>
          <p:cNvSpPr txBox="1"/>
          <p:nvPr/>
        </p:nvSpPr>
        <p:spPr>
          <a:xfrm>
            <a:off x="685800" y="2880000"/>
            <a:ext cx="10820400" cy="820000"/>
          </a:xfrm>
          <a:prstGeom prst="rect">
            <a:avLst/>
          </a:prstGeom>
          <a:noFill/>
        </p:spPr>
        <p:txBody>
          <a:bodyPr wrap="square">
            <a:spAutoFit/>
          </a:bodyPr>
          <a:lstStyle/>
          <a:p>
            <a:r>
              <a:rPr sz="1450" b="1">
                <a:solidFill>
                  <a:srgbClr val="1E2761"/>
                </a:solidFill>
                <a:latin typeface="Cambria"/>
              </a:rPr>
              <a:t>ROC-AUC flatters both models</a:t>
            </a:r>
          </a:p>
          <a:p>
            <a:r>
              <a:rPr sz="1200" b="0">
                <a:solidFill>
                  <a:srgbClr val="1B2140"/>
                </a:solidFill>
                <a:latin typeface="Calibri"/>
              </a:rPr>
              <a:t>It rewards ranking across all 284,807 rows, and the 284,315 legitimate ones dominate. So both models look strong: 0.971 vs 0.983.</a:t>
            </a:r>
          </a:p>
        </p:txBody>
      </p:sp>
      <p:sp>
        <p:nvSpPr>
          <p:cNvPr id="8" name="TextBox 7"/>
          <p:cNvSpPr txBox="1"/>
          <p:nvPr/>
        </p:nvSpPr>
        <p:spPr>
          <a:xfrm>
            <a:off x="685800" y="4000000"/>
            <a:ext cx="10820400" cy="820000"/>
          </a:xfrm>
          <a:prstGeom prst="rect">
            <a:avLst/>
          </a:prstGeom>
          <a:noFill/>
        </p:spPr>
        <p:txBody>
          <a:bodyPr wrap="square">
            <a:spAutoFit/>
          </a:bodyPr>
          <a:lstStyle/>
          <a:p>
            <a:r>
              <a:rPr sz="1450" b="1">
                <a:solidFill>
                  <a:srgbClr val="1E2761"/>
                </a:solidFill>
                <a:latin typeface="Cambria"/>
              </a:rPr>
              <a:t>PR-AUC tells the truth</a:t>
            </a:r>
          </a:p>
          <a:p>
            <a:r>
              <a:rPr sz="1200" b="0">
                <a:solidFill>
                  <a:srgbClr val="1B2140"/>
                </a:solidFill>
                <a:latin typeface="Calibri"/>
              </a:rPr>
              <a:t>Average precision looks only at the fraud class. Logistic Regression = 0.713, Random Forest = 0.816 - the real gap ROC-AUC hides.</a:t>
            </a:r>
          </a:p>
        </p:txBody>
      </p:sp>
      <p:sp>
        <p:nvSpPr>
          <p:cNvPr id="9" name="TextBox 8"/>
          <p:cNvSpPr txBox="1"/>
          <p:nvPr/>
        </p:nvSpPr>
        <p:spPr>
          <a:xfrm>
            <a:off x="685800" y="5120000"/>
            <a:ext cx="10820400" cy="820000"/>
          </a:xfrm>
          <a:prstGeom prst="rect">
            <a:avLst/>
          </a:prstGeom>
          <a:noFill/>
        </p:spPr>
        <p:txBody>
          <a:bodyPr wrap="square">
            <a:spAutoFit/>
          </a:bodyPr>
          <a:lstStyle/>
          <a:p>
            <a:r>
              <a:rPr sz="1450" b="1">
                <a:solidFill>
                  <a:srgbClr val="1E2761"/>
                </a:solidFill>
                <a:latin typeface="Cambria"/>
              </a:rPr>
              <a:t>Tuned vs judged</a:t>
            </a:r>
          </a:p>
          <a:p>
            <a:r>
              <a:rPr sz="1200" b="0">
                <a:solidFill>
                  <a:srgbClr val="1B2140"/>
                </a:solidFill>
                <a:latin typeface="Calibri"/>
              </a:rPr>
              <a:t>GridSearchCV tuned both models on ROC-AUC; we then compare them on PR-AUC and the confusion matrix, which reflect the business cost of each error.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9601200" cy="292608"/>
          </a:xfrm>
          <a:prstGeom prst="rect">
            <a:avLst/>
          </a:prstGeom>
          <a:noFill/>
        </p:spPr>
        <p:txBody>
          <a:bodyPr wrap="square">
            <a:spAutoFit/>
          </a:bodyPr>
          <a:lstStyle/>
          <a:p>
            <a:r>
              <a:rPr sz="1200" b="1">
                <a:solidFill>
                  <a:srgbClr val="F4A300"/>
                </a:solidFill>
                <a:latin typeface="Calibri"/>
              </a:rPr>
              <a:t>TASK 2 · MODEL INTERPRETABILITY</a:t>
            </a:r>
          </a:p>
        </p:txBody>
      </p:sp>
      <p:sp>
        <p:nvSpPr>
          <p:cNvPr id="3" name="TextBox 2"/>
          <p:cNvSpPr txBox="1"/>
          <p:nvPr/>
        </p:nvSpPr>
        <p:spPr>
          <a:xfrm>
            <a:off x="640080" y="658368"/>
            <a:ext cx="9784080" cy="640080"/>
          </a:xfrm>
          <a:prstGeom prst="rect">
            <a:avLst/>
          </a:prstGeom>
          <a:noFill/>
        </p:spPr>
        <p:txBody>
          <a:bodyPr wrap="square">
            <a:spAutoFit/>
          </a:bodyPr>
          <a:lstStyle/>
          <a:p>
            <a:r>
              <a:rPr sz="2800" b="1">
                <a:solidFill>
                  <a:srgbClr val="1E2761"/>
                </a:solidFill>
                <a:latin typeface="Cambria"/>
              </a:rPr>
              <a:t>What the Random Forest Learned</a:t>
            </a:r>
          </a:p>
        </p:txBody>
      </p:sp>
      <p:sp>
        <p:nvSpPr>
          <p:cNvPr id="4" name="TextBox 3"/>
          <p:cNvSpPr txBox="1"/>
          <p:nvPr/>
        </p:nvSpPr>
        <p:spPr>
          <a:xfrm>
            <a:off x="548640" y="6528816"/>
            <a:ext cx="7772400" cy="274320"/>
          </a:xfrm>
          <a:prstGeom prst="rect">
            <a:avLst/>
          </a:prstGeom>
          <a:noFill/>
        </p:spPr>
        <p:txBody>
          <a:bodyPr wrap="square">
            <a:spAutoFit/>
          </a:bodyPr>
          <a:lstStyle/>
          <a:p>
            <a:r>
              <a:rPr sz="900" b="0">
                <a:solidFill>
                  <a:srgbClr val="6B7A9E"/>
                </a:solidFill>
                <a:latin typeface="Calibri"/>
              </a:rPr>
              <a:t>YASHIL  ·  DECODELABS DATA SCIENCE INTERNSHIP</a:t>
            </a:r>
          </a:p>
        </p:txBody>
      </p:sp>
      <p:sp>
        <p:nvSpPr>
          <p:cNvPr id="5" name="TextBox 4"/>
          <p:cNvSpPr txBox="1"/>
          <p:nvPr/>
        </p:nvSpPr>
        <p:spPr>
          <a:xfrm>
            <a:off x="11183112" y="6528816"/>
            <a:ext cx="457200" cy="274320"/>
          </a:xfrm>
          <a:prstGeom prst="rect">
            <a:avLst/>
          </a:prstGeom>
          <a:noFill/>
        </p:spPr>
        <p:txBody>
          <a:bodyPr wrap="square">
            <a:spAutoFit/>
          </a:bodyPr>
          <a:lstStyle/>
          <a:p>
            <a:r>
              <a:rPr sz="900" b="0">
                <a:solidFill>
                  <a:srgbClr val="6B7A9E"/>
                </a:solidFill>
                <a:latin typeface="Calibri"/>
              </a:rPr>
              <a:t>13</a:t>
            </a:r>
          </a:p>
        </p:txBody>
      </p:sp>
      <p:pic>
        <p:nvPicPr>
          <p:cNvPr id="6" name="Picture 5" descr="feature_importance_deck.png"/>
          <p:cNvPicPr>
            <a:picLocks noChangeAspect="1"/>
          </p:cNvPicPr>
          <p:nvPr/>
        </p:nvPicPr>
        <p:blipFill>
          <a:blip r:embed="rId2"/>
          <a:stretch>
            <a:fillRect/>
          </a:stretch>
        </p:blipFill>
        <p:spPr>
          <a:xfrm>
            <a:off x="685800" y="1720000"/>
            <a:ext cx="5733333" cy="4300000"/>
          </a:xfrm>
          <a:prstGeom prst="rect">
            <a:avLst/>
          </a:prstGeom>
        </p:spPr>
      </p:pic>
      <p:sp>
        <p:nvSpPr>
          <p:cNvPr id="7" name="TextBox 6"/>
          <p:cNvSpPr txBox="1"/>
          <p:nvPr/>
        </p:nvSpPr>
        <p:spPr>
          <a:xfrm>
            <a:off x="7300000" y="2050000"/>
            <a:ext cx="4200000" cy="3600000"/>
          </a:xfrm>
          <a:prstGeom prst="rect">
            <a:avLst/>
          </a:prstGeom>
          <a:noFill/>
        </p:spPr>
        <p:txBody>
          <a:bodyPr wrap="square">
            <a:spAutoFit/>
          </a:bodyPr>
          <a:lstStyle/>
          <a:p>
            <a:r>
              <a:rPr sz="1450" b="1">
                <a:solidFill>
                  <a:srgbClr val="1E2761"/>
                </a:solidFill>
                <a:latin typeface="Cambria"/>
              </a:rPr>
              <a:t>Reading the chart</a:t>
            </a:r>
          </a:p>
          <a:p>
            <a:r>
              <a:rPr sz="1200" b="0">
                <a:solidFill>
                  <a:srgbClr val="1B2140"/>
                </a:solidFill>
                <a:latin typeface="Calibri"/>
              </a:rPr>
              <a:t>The strongest signals are the anonymised PCA features V14, V10 and V4. Because V1-V28 are PCA outputs we cannot name the raw behaviour behind them, but the model leans on a small handful of them, not Time or Amount.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601200" cy="292608"/>
          </a:xfrm>
          <a:prstGeom prst="rect">
            <a:avLst/>
          </a:prstGeom>
          <a:noFill/>
          <a:ln/>
        </p:spPr>
        <p:txBody>
          <a:bodyPr wrap="square" lIns="0" tIns="0" rIns="0" bIns="0"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TASK 2 · PRECISION VS. RECALL</a:t>
            </a:r>
            <a:endParaRPr lang="en-US" sz="1200" dirty="0"/>
          </a:p>
        </p:txBody>
      </p:sp>
      <p:sp>
        <p:nvSpPr>
          <p:cNvPr id="3" name="Text 1"/>
          <p:cNvSpPr/>
          <p:nvPr/>
        </p:nvSpPr>
        <p:spPr>
          <a:xfrm>
            <a:off x="640080" y="658368"/>
            <a:ext cx="9784080" cy="640080"/>
          </a:xfrm>
          <a:prstGeom prst="rect">
            <a:avLst/>
          </a:prstGeom>
          <a:noFill/>
          <a:ln/>
        </p:spPr>
        <p:txBody>
          <a:bodyPr wrap="square" lIns="0" tIns="0" rIns="0" bIns="0" rtlCol="0" anchor="t"/>
          <a:lstStyle/>
          <a:p>
            <a:pPr marL="0" indent="0">
              <a:buNone/>
            </a:pPr>
            <a:r>
              <a:rPr lang="en-US" sz="2800" b="1" dirty="0">
                <a:solidFill>
                  <a:srgbClr val="1E2761"/>
                </a:solidFill>
                <a:latin typeface="Cambria" pitchFamily="34" charset="0"/>
                <a:ea typeface="Cambria" pitchFamily="34" charset="-122"/>
                <a:cs typeface="Cambria" pitchFamily="34" charset="-120"/>
              </a:rPr>
              <a:t>Reading the Confusion Matrices</a:t>
            </a:r>
            <a:endParaRPr lang="en-US" sz="2800" dirty="0"/>
          </a:p>
        </p:txBody>
      </p:sp>
      <p:sp>
        <p:nvSpPr>
          <p:cNvPr id="4" name="Shape 2"/>
          <p:cNvSpPr/>
          <p:nvPr/>
        </p:nvSpPr>
        <p:spPr>
          <a:xfrm>
            <a:off x="10817352" y="502920"/>
            <a:ext cx="777240" cy="777240"/>
          </a:xfrm>
          <a:prstGeom prst="ellipse">
            <a:avLst/>
          </a:prstGeom>
          <a:solidFill>
            <a:srgbClr val="1E2761"/>
          </a:solidFill>
          <a:ln/>
        </p:spPr>
        <p:txBody>
          <a:bodyPr/>
          <a:lstStyle/>
          <a:p>
            <a:endParaRPr lang="en-US"/>
          </a:p>
        </p:txBody>
      </p:sp>
      <p:pic>
        <p:nvPicPr>
          <p:cNvPr id="5" name="Image 0" descr="/home/claude/decodelabs_deck/assets/target_white.png"/>
          <p:cNvPicPr>
            <a:picLocks noChangeAspect="1"/>
          </p:cNvPicPr>
          <p:nvPr/>
        </p:nvPicPr>
        <p:blipFill>
          <a:blip r:embed="rId3"/>
          <a:stretch>
            <a:fillRect/>
          </a:stretch>
        </p:blipFill>
        <p:spPr>
          <a:xfrm>
            <a:off x="11000232" y="685800"/>
            <a:ext cx="411480" cy="411480"/>
          </a:xfrm>
          <a:prstGeom prst="rect">
            <a:avLst/>
          </a:prstGeom>
        </p:spPr>
      </p:pic>
      <p:sp>
        <p:nvSpPr>
          <p:cNvPr id="6" name="Text 3"/>
          <p:cNvSpPr/>
          <p:nvPr/>
        </p:nvSpPr>
        <p:spPr>
          <a:xfrm>
            <a:off x="685800" y="1691640"/>
            <a:ext cx="5074920"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Logistic Regression</a:t>
            </a:r>
            <a:endParaRPr lang="en-US" sz="1600" dirty="0"/>
          </a:p>
        </p:txBody>
      </p:sp>
      <p:sp>
        <p:nvSpPr>
          <p:cNvPr id="7" name="Text 4"/>
          <p:cNvSpPr/>
          <p:nvPr/>
        </p:nvSpPr>
        <p:spPr>
          <a:xfrm>
            <a:off x="685800" y="2002536"/>
            <a:ext cx="5074920" cy="228600"/>
          </a:xfrm>
          <a:prstGeom prst="rect">
            <a:avLst/>
          </a:prstGeom>
          <a:noFill/>
          <a:ln/>
        </p:spPr>
        <p:txBody>
          <a:bodyPr wrap="square" lIns="0" tIns="0" rIns="0" bIns="0" rtlCol="0" anchor="ctr"/>
          <a:lstStyle/>
          <a:p>
            <a:pPr marL="0" indent="0">
              <a:buNone/>
            </a:pPr>
            <a:r>
              <a:rPr lang="en-US" sz="950" i="1" dirty="0">
                <a:solidFill>
                  <a:srgbClr val="6B7A9E"/>
                </a:solidFill>
                <a:latin typeface="Calibri" pitchFamily="34" charset="0"/>
                <a:ea typeface="Calibri" pitchFamily="34" charset="-122"/>
                <a:cs typeface="Calibri" pitchFamily="34" charset="-120"/>
              </a:rPr>
              <a:t>rows = actual class   ·   columns = predicted class</a:t>
            </a:r>
            <a:endParaRPr lang="en-US" sz="950" dirty="0"/>
          </a:p>
        </p:txBody>
      </p:sp>
      <p:sp>
        <p:nvSpPr>
          <p:cNvPr id="8" name="Shape 5"/>
          <p:cNvSpPr/>
          <p:nvPr/>
        </p:nvSpPr>
        <p:spPr>
          <a:xfrm>
            <a:off x="685800" y="2313432"/>
            <a:ext cx="2491740" cy="1097280"/>
          </a:xfrm>
          <a:prstGeom prst="roundRect">
            <a:avLst>
              <a:gd name="adj" fmla="val 5000"/>
            </a:avLst>
          </a:prstGeom>
          <a:solidFill>
            <a:srgbClr val="E1F0E6"/>
          </a:solidFill>
          <a:ln/>
        </p:spPr>
        <p:txBody>
          <a:bodyPr/>
          <a:lstStyle/>
          <a:p>
            <a:endParaRPr lang="en-US"/>
          </a:p>
        </p:txBody>
      </p:sp>
      <p:sp>
        <p:nvSpPr>
          <p:cNvPr id="9" name="Text 6"/>
          <p:cNvSpPr/>
          <p:nvPr/>
        </p:nvSpPr>
        <p:spPr>
          <a:xfrm>
            <a:off x="795528" y="2386584"/>
            <a:ext cx="2272284" cy="570586"/>
          </a:xfrm>
          <a:prstGeom prst="rect">
            <a:avLst/>
          </a:prstGeom>
          <a:noFill/>
          <a:ln/>
        </p:spPr>
        <p:txBody>
          <a:bodyPr wrap="square" lIns="0" tIns="0" rIns="0" bIns="0" rtlCol="0" anchor="b"/>
          <a:lstStyle/>
          <a:p>
            <a:pPr marL="0" indent="0">
              <a:buNone/>
            </a:pPr>
            <a:r>
              <a:rPr lang="en-US" sz="2200" b="1" dirty="0">
                <a:solidFill>
                  <a:srgbClr val="2E8B57"/>
                </a:solidFill>
                <a:latin typeface="Cambria" pitchFamily="34" charset="0"/>
                <a:ea typeface="Cambria" pitchFamily="34" charset="-122"/>
                <a:cs typeface="Cambria" pitchFamily="34" charset="-120"/>
              </a:rPr>
              <a:t>55,416</a:t>
            </a:r>
            <a:endParaRPr lang="en-US" sz="2200" dirty="0"/>
          </a:p>
        </p:txBody>
      </p:sp>
      <p:sp>
        <p:nvSpPr>
          <p:cNvPr id="10" name="Text 7"/>
          <p:cNvSpPr/>
          <p:nvPr/>
        </p:nvSpPr>
        <p:spPr>
          <a:xfrm>
            <a:off x="795528" y="2971800"/>
            <a:ext cx="2272284" cy="416966"/>
          </a:xfrm>
          <a:prstGeom prst="rect">
            <a:avLst/>
          </a:prstGeom>
          <a:noFill/>
          <a:ln/>
        </p:spPr>
        <p:txBody>
          <a:bodyPr wrap="square" lIns="0" tIns="0" rIns="0" bIns="0" rtlCol="0" anchor="t"/>
          <a:lstStyle/>
          <a:p>
            <a:pPr marL="0" indent="0">
              <a:lnSpc>
                <a:spcPct val="105000"/>
              </a:lnSpc>
              <a:buNone/>
            </a:pPr>
            <a:r>
              <a:rPr lang="en-US" sz="1000" dirty="0">
                <a:solidFill>
                  <a:srgbClr val="6B7A9E"/>
                </a:solidFill>
                <a:latin typeface="Calibri" pitchFamily="34" charset="0"/>
                <a:ea typeface="Calibri" pitchFamily="34" charset="-122"/>
                <a:cs typeface="Calibri" pitchFamily="34" charset="-120"/>
              </a:rPr>
              <a:t>Correctly flagged legitimate</a:t>
            </a:r>
            <a:endParaRPr lang="en-US" sz="1000" dirty="0"/>
          </a:p>
        </p:txBody>
      </p:sp>
      <p:sp>
        <p:nvSpPr>
          <p:cNvPr id="11" name="Shape 8"/>
          <p:cNvSpPr/>
          <p:nvPr/>
        </p:nvSpPr>
        <p:spPr>
          <a:xfrm>
            <a:off x="3268980" y="2313432"/>
            <a:ext cx="2491740" cy="1097280"/>
          </a:xfrm>
          <a:prstGeom prst="roundRect">
            <a:avLst>
              <a:gd name="adj" fmla="val 5000"/>
            </a:avLst>
          </a:prstGeom>
          <a:solidFill>
            <a:srgbClr val="FBE8E6"/>
          </a:solidFill>
          <a:ln/>
        </p:spPr>
        <p:txBody>
          <a:bodyPr/>
          <a:lstStyle/>
          <a:p>
            <a:endParaRPr lang="en-US"/>
          </a:p>
        </p:txBody>
      </p:sp>
      <p:sp>
        <p:nvSpPr>
          <p:cNvPr id="12" name="Text 9"/>
          <p:cNvSpPr/>
          <p:nvPr/>
        </p:nvSpPr>
        <p:spPr>
          <a:xfrm>
            <a:off x="3378708" y="2386584"/>
            <a:ext cx="2272284" cy="570586"/>
          </a:xfrm>
          <a:prstGeom prst="rect">
            <a:avLst/>
          </a:prstGeom>
          <a:noFill/>
          <a:ln/>
        </p:spPr>
        <p:txBody>
          <a:bodyPr wrap="square" lIns="0" tIns="0" rIns="0" bIns="0" rtlCol="0" anchor="b"/>
          <a:lstStyle/>
          <a:p>
            <a:pPr marL="0" indent="0">
              <a:buNone/>
            </a:pPr>
            <a:r>
              <a:rPr lang="en-US" sz="2200" b="1" dirty="0">
                <a:solidFill>
                  <a:srgbClr val="C0392B"/>
                </a:solidFill>
                <a:latin typeface="Cambria" pitchFamily="34" charset="0"/>
                <a:ea typeface="Cambria" pitchFamily="34" charset="-122"/>
                <a:cs typeface="Cambria" pitchFamily="34" charset="-120"/>
              </a:rPr>
              <a:t>1,448</a:t>
            </a:r>
            <a:endParaRPr lang="en-US" sz="2200" dirty="0"/>
          </a:p>
        </p:txBody>
      </p:sp>
      <p:sp>
        <p:nvSpPr>
          <p:cNvPr id="13" name="Text 10"/>
          <p:cNvSpPr/>
          <p:nvPr/>
        </p:nvSpPr>
        <p:spPr>
          <a:xfrm>
            <a:off x="3378708" y="2971800"/>
            <a:ext cx="2272284" cy="416966"/>
          </a:xfrm>
          <a:prstGeom prst="rect">
            <a:avLst/>
          </a:prstGeom>
          <a:noFill/>
          <a:ln/>
        </p:spPr>
        <p:txBody>
          <a:bodyPr wrap="square" lIns="0" tIns="0" rIns="0" bIns="0" rtlCol="0" anchor="t"/>
          <a:lstStyle/>
          <a:p>
            <a:pPr marL="0" indent="0">
              <a:lnSpc>
                <a:spcPct val="105000"/>
              </a:lnSpc>
              <a:buNone/>
            </a:pPr>
            <a:r>
              <a:rPr lang="en-US" sz="1000" dirty="0">
                <a:solidFill>
                  <a:srgbClr val="6B7A9E"/>
                </a:solidFill>
                <a:latin typeface="Calibri" pitchFamily="34" charset="0"/>
                <a:ea typeface="Calibri" pitchFamily="34" charset="-122"/>
                <a:cs typeface="Calibri" pitchFamily="34" charset="-120"/>
              </a:rPr>
              <a:t>False alarms (flagged fraud, actually legit)</a:t>
            </a:r>
            <a:endParaRPr lang="en-US" sz="1000" dirty="0"/>
          </a:p>
        </p:txBody>
      </p:sp>
      <p:sp>
        <p:nvSpPr>
          <p:cNvPr id="14" name="Shape 11"/>
          <p:cNvSpPr/>
          <p:nvPr/>
        </p:nvSpPr>
        <p:spPr>
          <a:xfrm>
            <a:off x="685800" y="3502152"/>
            <a:ext cx="2491740" cy="1097280"/>
          </a:xfrm>
          <a:prstGeom prst="roundRect">
            <a:avLst>
              <a:gd name="adj" fmla="val 5000"/>
            </a:avLst>
          </a:prstGeom>
          <a:solidFill>
            <a:srgbClr val="FBE8E6"/>
          </a:solidFill>
          <a:ln/>
        </p:spPr>
        <p:txBody>
          <a:bodyPr/>
          <a:lstStyle/>
          <a:p>
            <a:endParaRPr lang="en-US"/>
          </a:p>
        </p:txBody>
      </p:sp>
      <p:sp>
        <p:nvSpPr>
          <p:cNvPr id="15" name="Text 12"/>
          <p:cNvSpPr/>
          <p:nvPr/>
        </p:nvSpPr>
        <p:spPr>
          <a:xfrm>
            <a:off x="795528" y="3575304"/>
            <a:ext cx="2272284" cy="570586"/>
          </a:xfrm>
          <a:prstGeom prst="rect">
            <a:avLst/>
          </a:prstGeom>
          <a:noFill/>
          <a:ln/>
        </p:spPr>
        <p:txBody>
          <a:bodyPr wrap="square" lIns="0" tIns="0" rIns="0" bIns="0" rtlCol="0" anchor="b"/>
          <a:lstStyle/>
          <a:p>
            <a:pPr marL="0" indent="0">
              <a:buNone/>
            </a:pPr>
            <a:r>
              <a:rPr lang="en-US" sz="2200" b="1" dirty="0">
                <a:solidFill>
                  <a:srgbClr val="C0392B"/>
                </a:solidFill>
                <a:latin typeface="Cambria" pitchFamily="34" charset="0"/>
                <a:ea typeface="Cambria" pitchFamily="34" charset="-122"/>
                <a:cs typeface="Cambria" pitchFamily="34" charset="-120"/>
              </a:rPr>
              <a:t>8</a:t>
            </a:r>
            <a:endParaRPr lang="en-US" sz="2200" dirty="0"/>
          </a:p>
        </p:txBody>
      </p:sp>
      <p:sp>
        <p:nvSpPr>
          <p:cNvPr id="16" name="Text 13"/>
          <p:cNvSpPr/>
          <p:nvPr/>
        </p:nvSpPr>
        <p:spPr>
          <a:xfrm>
            <a:off x="795528" y="4160520"/>
            <a:ext cx="2272284" cy="416966"/>
          </a:xfrm>
          <a:prstGeom prst="rect">
            <a:avLst/>
          </a:prstGeom>
          <a:noFill/>
          <a:ln/>
        </p:spPr>
        <p:txBody>
          <a:bodyPr wrap="square" lIns="0" tIns="0" rIns="0" bIns="0" rtlCol="0" anchor="t"/>
          <a:lstStyle/>
          <a:p>
            <a:pPr marL="0" indent="0">
              <a:lnSpc>
                <a:spcPct val="105000"/>
              </a:lnSpc>
              <a:buNone/>
            </a:pPr>
            <a:r>
              <a:rPr lang="en-US" sz="1000" dirty="0">
                <a:solidFill>
                  <a:srgbClr val="6B7A9E"/>
                </a:solidFill>
                <a:latin typeface="Calibri" pitchFamily="34" charset="0"/>
                <a:ea typeface="Calibri" pitchFamily="34" charset="-122"/>
                <a:cs typeface="Calibri" pitchFamily="34" charset="-120"/>
              </a:rPr>
              <a:t>Missed fraud (flagged legit, actually fraud)</a:t>
            </a:r>
            <a:endParaRPr lang="en-US" sz="1000" dirty="0"/>
          </a:p>
        </p:txBody>
      </p:sp>
      <p:sp>
        <p:nvSpPr>
          <p:cNvPr id="17" name="Shape 14"/>
          <p:cNvSpPr/>
          <p:nvPr/>
        </p:nvSpPr>
        <p:spPr>
          <a:xfrm>
            <a:off x="3268980" y="3502152"/>
            <a:ext cx="2491740" cy="1097280"/>
          </a:xfrm>
          <a:prstGeom prst="roundRect">
            <a:avLst>
              <a:gd name="adj" fmla="val 5000"/>
            </a:avLst>
          </a:prstGeom>
          <a:solidFill>
            <a:srgbClr val="E1F0E6"/>
          </a:solidFill>
          <a:ln/>
        </p:spPr>
        <p:txBody>
          <a:bodyPr/>
          <a:lstStyle/>
          <a:p>
            <a:endParaRPr lang="en-US"/>
          </a:p>
        </p:txBody>
      </p:sp>
      <p:sp>
        <p:nvSpPr>
          <p:cNvPr id="18" name="Text 15"/>
          <p:cNvSpPr/>
          <p:nvPr/>
        </p:nvSpPr>
        <p:spPr>
          <a:xfrm>
            <a:off x="3378708" y="3575304"/>
            <a:ext cx="2272284" cy="570586"/>
          </a:xfrm>
          <a:prstGeom prst="rect">
            <a:avLst/>
          </a:prstGeom>
          <a:noFill/>
          <a:ln/>
        </p:spPr>
        <p:txBody>
          <a:bodyPr wrap="square" lIns="0" tIns="0" rIns="0" bIns="0" rtlCol="0" anchor="b"/>
          <a:lstStyle/>
          <a:p>
            <a:pPr marL="0" indent="0">
              <a:buNone/>
            </a:pPr>
            <a:r>
              <a:rPr lang="en-US" sz="2200" b="1" dirty="0">
                <a:solidFill>
                  <a:srgbClr val="2E8B57"/>
                </a:solidFill>
                <a:latin typeface="Cambria" pitchFamily="34" charset="0"/>
                <a:ea typeface="Cambria" pitchFamily="34" charset="-122"/>
                <a:cs typeface="Cambria" pitchFamily="34" charset="-120"/>
              </a:rPr>
              <a:t>90</a:t>
            </a:r>
            <a:endParaRPr lang="en-US" sz="2200" dirty="0"/>
          </a:p>
        </p:txBody>
      </p:sp>
      <p:sp>
        <p:nvSpPr>
          <p:cNvPr id="19" name="Text 16"/>
          <p:cNvSpPr/>
          <p:nvPr/>
        </p:nvSpPr>
        <p:spPr>
          <a:xfrm>
            <a:off x="3378708" y="4160520"/>
            <a:ext cx="2272284" cy="416966"/>
          </a:xfrm>
          <a:prstGeom prst="rect">
            <a:avLst/>
          </a:prstGeom>
          <a:noFill/>
          <a:ln/>
        </p:spPr>
        <p:txBody>
          <a:bodyPr wrap="square" lIns="0" tIns="0" rIns="0" bIns="0" rtlCol="0" anchor="t"/>
          <a:lstStyle/>
          <a:p>
            <a:pPr marL="0" indent="0">
              <a:lnSpc>
                <a:spcPct val="105000"/>
              </a:lnSpc>
              <a:buNone/>
            </a:pPr>
            <a:r>
              <a:rPr lang="en-US" sz="1000" dirty="0">
                <a:solidFill>
                  <a:srgbClr val="6B7A9E"/>
                </a:solidFill>
                <a:latin typeface="Calibri" pitchFamily="34" charset="0"/>
                <a:ea typeface="Calibri" pitchFamily="34" charset="-122"/>
                <a:cs typeface="Calibri" pitchFamily="34" charset="-120"/>
              </a:rPr>
              <a:t>Fraud correctly caught</a:t>
            </a:r>
            <a:endParaRPr lang="en-US" sz="1000" dirty="0"/>
          </a:p>
        </p:txBody>
      </p:sp>
      <p:sp>
        <p:nvSpPr>
          <p:cNvPr id="20" name="Text 17"/>
          <p:cNvSpPr/>
          <p:nvPr/>
        </p:nvSpPr>
        <p:spPr>
          <a:xfrm>
            <a:off x="6355080" y="1691640"/>
            <a:ext cx="5074920"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Random Forest</a:t>
            </a:r>
            <a:endParaRPr lang="en-US" sz="1600" dirty="0"/>
          </a:p>
        </p:txBody>
      </p:sp>
      <p:sp>
        <p:nvSpPr>
          <p:cNvPr id="21" name="Text 18"/>
          <p:cNvSpPr/>
          <p:nvPr/>
        </p:nvSpPr>
        <p:spPr>
          <a:xfrm>
            <a:off x="6355080" y="2002536"/>
            <a:ext cx="5074920" cy="228600"/>
          </a:xfrm>
          <a:prstGeom prst="rect">
            <a:avLst/>
          </a:prstGeom>
          <a:noFill/>
          <a:ln/>
        </p:spPr>
        <p:txBody>
          <a:bodyPr wrap="square" lIns="0" tIns="0" rIns="0" bIns="0" rtlCol="0" anchor="ctr"/>
          <a:lstStyle/>
          <a:p>
            <a:pPr marL="0" indent="0">
              <a:buNone/>
            </a:pPr>
            <a:r>
              <a:rPr lang="en-US" sz="950" i="1" dirty="0">
                <a:solidFill>
                  <a:srgbClr val="6B7A9E"/>
                </a:solidFill>
                <a:latin typeface="Calibri" pitchFamily="34" charset="0"/>
                <a:ea typeface="Calibri" pitchFamily="34" charset="-122"/>
                <a:cs typeface="Calibri" pitchFamily="34" charset="-120"/>
              </a:rPr>
              <a:t>rows = actual class   ·   columns = predicted class</a:t>
            </a:r>
            <a:endParaRPr lang="en-US" sz="950" dirty="0"/>
          </a:p>
        </p:txBody>
      </p:sp>
      <p:sp>
        <p:nvSpPr>
          <p:cNvPr id="22" name="Shape 19"/>
          <p:cNvSpPr/>
          <p:nvPr/>
        </p:nvSpPr>
        <p:spPr>
          <a:xfrm>
            <a:off x="6355080" y="2313432"/>
            <a:ext cx="2491740" cy="1097280"/>
          </a:xfrm>
          <a:prstGeom prst="roundRect">
            <a:avLst>
              <a:gd name="adj" fmla="val 5000"/>
            </a:avLst>
          </a:prstGeom>
          <a:solidFill>
            <a:srgbClr val="E1F0E6"/>
          </a:solidFill>
          <a:ln/>
        </p:spPr>
        <p:txBody>
          <a:bodyPr/>
          <a:lstStyle/>
          <a:p>
            <a:endParaRPr lang="en-US"/>
          </a:p>
        </p:txBody>
      </p:sp>
      <p:sp>
        <p:nvSpPr>
          <p:cNvPr id="23" name="Text 20"/>
          <p:cNvSpPr/>
          <p:nvPr/>
        </p:nvSpPr>
        <p:spPr>
          <a:xfrm>
            <a:off x="6464808" y="2386584"/>
            <a:ext cx="2272284" cy="570586"/>
          </a:xfrm>
          <a:prstGeom prst="rect">
            <a:avLst/>
          </a:prstGeom>
          <a:noFill/>
          <a:ln/>
        </p:spPr>
        <p:txBody>
          <a:bodyPr wrap="square" lIns="0" tIns="0" rIns="0" bIns="0" rtlCol="0" anchor="b"/>
          <a:lstStyle/>
          <a:p>
            <a:pPr marL="0" indent="0">
              <a:buNone/>
            </a:pPr>
            <a:r>
              <a:rPr lang="en-US" sz="2200" b="1" dirty="0">
                <a:solidFill>
                  <a:srgbClr val="2E8B57"/>
                </a:solidFill>
                <a:latin typeface="Cambria" pitchFamily="34" charset="0"/>
                <a:ea typeface="Cambria" pitchFamily="34" charset="-122"/>
                <a:cs typeface="Cambria" pitchFamily="34" charset="-120"/>
              </a:rPr>
              <a:t>56,795</a:t>
            </a:r>
            <a:endParaRPr lang="en-US" sz="2200" dirty="0"/>
          </a:p>
        </p:txBody>
      </p:sp>
      <p:sp>
        <p:nvSpPr>
          <p:cNvPr id="24" name="Text 21"/>
          <p:cNvSpPr/>
          <p:nvPr/>
        </p:nvSpPr>
        <p:spPr>
          <a:xfrm>
            <a:off x="6464808" y="2971800"/>
            <a:ext cx="2272284" cy="416966"/>
          </a:xfrm>
          <a:prstGeom prst="rect">
            <a:avLst/>
          </a:prstGeom>
          <a:noFill/>
          <a:ln/>
        </p:spPr>
        <p:txBody>
          <a:bodyPr wrap="square" lIns="0" tIns="0" rIns="0" bIns="0" rtlCol="0" anchor="t"/>
          <a:lstStyle/>
          <a:p>
            <a:pPr marL="0" indent="0">
              <a:lnSpc>
                <a:spcPct val="105000"/>
              </a:lnSpc>
              <a:buNone/>
            </a:pPr>
            <a:r>
              <a:rPr lang="en-US" sz="1000" dirty="0">
                <a:solidFill>
                  <a:srgbClr val="6B7A9E"/>
                </a:solidFill>
                <a:latin typeface="Calibri" pitchFamily="34" charset="0"/>
                <a:ea typeface="Calibri" pitchFamily="34" charset="-122"/>
                <a:cs typeface="Calibri" pitchFamily="34" charset="-120"/>
              </a:rPr>
              <a:t>Correctly flagged legitimate</a:t>
            </a:r>
            <a:endParaRPr lang="en-US" sz="1000" dirty="0"/>
          </a:p>
        </p:txBody>
      </p:sp>
      <p:sp>
        <p:nvSpPr>
          <p:cNvPr id="25" name="Shape 22"/>
          <p:cNvSpPr/>
          <p:nvPr/>
        </p:nvSpPr>
        <p:spPr>
          <a:xfrm>
            <a:off x="8938260" y="2313432"/>
            <a:ext cx="2491740" cy="1097280"/>
          </a:xfrm>
          <a:prstGeom prst="roundRect">
            <a:avLst>
              <a:gd name="adj" fmla="val 5000"/>
            </a:avLst>
          </a:prstGeom>
          <a:solidFill>
            <a:srgbClr val="FBE8E6"/>
          </a:solidFill>
          <a:ln/>
        </p:spPr>
        <p:txBody>
          <a:bodyPr/>
          <a:lstStyle/>
          <a:p>
            <a:endParaRPr lang="en-US"/>
          </a:p>
        </p:txBody>
      </p:sp>
      <p:sp>
        <p:nvSpPr>
          <p:cNvPr id="26" name="Text 23"/>
          <p:cNvSpPr/>
          <p:nvPr/>
        </p:nvSpPr>
        <p:spPr>
          <a:xfrm>
            <a:off x="9047988" y="2386584"/>
            <a:ext cx="2272284" cy="570586"/>
          </a:xfrm>
          <a:prstGeom prst="rect">
            <a:avLst/>
          </a:prstGeom>
          <a:noFill/>
          <a:ln/>
        </p:spPr>
        <p:txBody>
          <a:bodyPr wrap="square" lIns="0" tIns="0" rIns="0" bIns="0" rtlCol="0" anchor="b"/>
          <a:lstStyle/>
          <a:p>
            <a:pPr marL="0" indent="0">
              <a:buNone/>
            </a:pPr>
            <a:r>
              <a:rPr lang="en-US" sz="2200" b="1" dirty="0">
                <a:solidFill>
                  <a:srgbClr val="C0392B"/>
                </a:solidFill>
                <a:latin typeface="Cambria" pitchFamily="34" charset="0"/>
                <a:ea typeface="Cambria" pitchFamily="34" charset="-122"/>
                <a:cs typeface="Cambria" pitchFamily="34" charset="-120"/>
              </a:rPr>
              <a:t>69</a:t>
            </a:r>
            <a:endParaRPr lang="en-US" sz="2200" dirty="0"/>
          </a:p>
        </p:txBody>
      </p:sp>
      <p:sp>
        <p:nvSpPr>
          <p:cNvPr id="27" name="Text 24"/>
          <p:cNvSpPr/>
          <p:nvPr/>
        </p:nvSpPr>
        <p:spPr>
          <a:xfrm>
            <a:off x="9047988" y="2971800"/>
            <a:ext cx="2272284" cy="416966"/>
          </a:xfrm>
          <a:prstGeom prst="rect">
            <a:avLst/>
          </a:prstGeom>
          <a:noFill/>
          <a:ln/>
        </p:spPr>
        <p:txBody>
          <a:bodyPr wrap="square" lIns="0" tIns="0" rIns="0" bIns="0" rtlCol="0" anchor="t"/>
          <a:lstStyle/>
          <a:p>
            <a:pPr marL="0" indent="0">
              <a:lnSpc>
                <a:spcPct val="105000"/>
              </a:lnSpc>
              <a:buNone/>
            </a:pPr>
            <a:r>
              <a:rPr lang="en-US" sz="1000" dirty="0">
                <a:solidFill>
                  <a:srgbClr val="6B7A9E"/>
                </a:solidFill>
                <a:latin typeface="Calibri" pitchFamily="34" charset="0"/>
                <a:ea typeface="Calibri" pitchFamily="34" charset="-122"/>
                <a:cs typeface="Calibri" pitchFamily="34" charset="-120"/>
              </a:rPr>
              <a:t>False alarms (flagged fraud, actually legit)</a:t>
            </a:r>
            <a:endParaRPr lang="en-US" sz="1000" dirty="0"/>
          </a:p>
        </p:txBody>
      </p:sp>
      <p:sp>
        <p:nvSpPr>
          <p:cNvPr id="28" name="Shape 25"/>
          <p:cNvSpPr/>
          <p:nvPr/>
        </p:nvSpPr>
        <p:spPr>
          <a:xfrm>
            <a:off x="6355080" y="3502152"/>
            <a:ext cx="2491740" cy="1097280"/>
          </a:xfrm>
          <a:prstGeom prst="roundRect">
            <a:avLst>
              <a:gd name="adj" fmla="val 5000"/>
            </a:avLst>
          </a:prstGeom>
          <a:solidFill>
            <a:srgbClr val="FBE8E6"/>
          </a:solidFill>
          <a:ln/>
        </p:spPr>
        <p:txBody>
          <a:bodyPr/>
          <a:lstStyle/>
          <a:p>
            <a:endParaRPr lang="en-US"/>
          </a:p>
        </p:txBody>
      </p:sp>
      <p:sp>
        <p:nvSpPr>
          <p:cNvPr id="29" name="Text 26"/>
          <p:cNvSpPr/>
          <p:nvPr/>
        </p:nvSpPr>
        <p:spPr>
          <a:xfrm>
            <a:off x="6464808" y="3575304"/>
            <a:ext cx="2272284" cy="570586"/>
          </a:xfrm>
          <a:prstGeom prst="rect">
            <a:avLst/>
          </a:prstGeom>
          <a:noFill/>
          <a:ln/>
        </p:spPr>
        <p:txBody>
          <a:bodyPr wrap="square" lIns="0" tIns="0" rIns="0" bIns="0" rtlCol="0" anchor="b"/>
          <a:lstStyle/>
          <a:p>
            <a:pPr marL="0" indent="0">
              <a:buNone/>
            </a:pPr>
            <a:r>
              <a:rPr lang="en-US" sz="2200" b="1" dirty="0">
                <a:solidFill>
                  <a:srgbClr val="C0392B"/>
                </a:solidFill>
                <a:latin typeface="Cambria" pitchFamily="34" charset="0"/>
                <a:ea typeface="Cambria" pitchFamily="34" charset="-122"/>
                <a:cs typeface="Cambria" pitchFamily="34" charset="-120"/>
              </a:rPr>
              <a:t>12</a:t>
            </a:r>
            <a:endParaRPr lang="en-US" sz="2200" dirty="0"/>
          </a:p>
        </p:txBody>
      </p:sp>
      <p:sp>
        <p:nvSpPr>
          <p:cNvPr id="30" name="Text 27"/>
          <p:cNvSpPr/>
          <p:nvPr/>
        </p:nvSpPr>
        <p:spPr>
          <a:xfrm>
            <a:off x="6464808" y="4160520"/>
            <a:ext cx="2272284" cy="416966"/>
          </a:xfrm>
          <a:prstGeom prst="rect">
            <a:avLst/>
          </a:prstGeom>
          <a:noFill/>
          <a:ln/>
        </p:spPr>
        <p:txBody>
          <a:bodyPr wrap="square" lIns="0" tIns="0" rIns="0" bIns="0" rtlCol="0" anchor="t"/>
          <a:lstStyle/>
          <a:p>
            <a:pPr marL="0" indent="0">
              <a:lnSpc>
                <a:spcPct val="105000"/>
              </a:lnSpc>
              <a:buNone/>
            </a:pPr>
            <a:r>
              <a:rPr lang="en-US" sz="1000" dirty="0">
                <a:solidFill>
                  <a:srgbClr val="6B7A9E"/>
                </a:solidFill>
                <a:latin typeface="Calibri" pitchFamily="34" charset="0"/>
                <a:ea typeface="Calibri" pitchFamily="34" charset="-122"/>
                <a:cs typeface="Calibri" pitchFamily="34" charset="-120"/>
              </a:rPr>
              <a:t>Missed fraud (flagged legit, actually fraud)</a:t>
            </a:r>
            <a:endParaRPr lang="en-US" sz="1000" dirty="0"/>
          </a:p>
        </p:txBody>
      </p:sp>
      <p:sp>
        <p:nvSpPr>
          <p:cNvPr id="31" name="Shape 28"/>
          <p:cNvSpPr/>
          <p:nvPr/>
        </p:nvSpPr>
        <p:spPr>
          <a:xfrm>
            <a:off x="8938260" y="3502152"/>
            <a:ext cx="2491740" cy="1097280"/>
          </a:xfrm>
          <a:prstGeom prst="roundRect">
            <a:avLst>
              <a:gd name="adj" fmla="val 5000"/>
            </a:avLst>
          </a:prstGeom>
          <a:solidFill>
            <a:srgbClr val="E1F0E6"/>
          </a:solidFill>
          <a:ln/>
        </p:spPr>
        <p:txBody>
          <a:bodyPr/>
          <a:lstStyle/>
          <a:p>
            <a:endParaRPr lang="en-US"/>
          </a:p>
        </p:txBody>
      </p:sp>
      <p:sp>
        <p:nvSpPr>
          <p:cNvPr id="32" name="Text 29"/>
          <p:cNvSpPr/>
          <p:nvPr/>
        </p:nvSpPr>
        <p:spPr>
          <a:xfrm>
            <a:off x="9047988" y="3575304"/>
            <a:ext cx="2272284" cy="570586"/>
          </a:xfrm>
          <a:prstGeom prst="rect">
            <a:avLst/>
          </a:prstGeom>
          <a:noFill/>
          <a:ln/>
        </p:spPr>
        <p:txBody>
          <a:bodyPr wrap="square" lIns="0" tIns="0" rIns="0" bIns="0" rtlCol="0" anchor="b"/>
          <a:lstStyle/>
          <a:p>
            <a:pPr marL="0" indent="0">
              <a:buNone/>
            </a:pPr>
            <a:r>
              <a:rPr lang="en-US" sz="2200" b="1" dirty="0">
                <a:solidFill>
                  <a:srgbClr val="2E8B57"/>
                </a:solidFill>
                <a:latin typeface="Cambria" pitchFamily="34" charset="0"/>
                <a:ea typeface="Cambria" pitchFamily="34" charset="-122"/>
                <a:cs typeface="Cambria" pitchFamily="34" charset="-120"/>
              </a:rPr>
              <a:t>86</a:t>
            </a:r>
            <a:endParaRPr lang="en-US" sz="2200" dirty="0"/>
          </a:p>
        </p:txBody>
      </p:sp>
      <p:sp>
        <p:nvSpPr>
          <p:cNvPr id="33" name="Text 30"/>
          <p:cNvSpPr/>
          <p:nvPr/>
        </p:nvSpPr>
        <p:spPr>
          <a:xfrm>
            <a:off x="9047988" y="4160520"/>
            <a:ext cx="2272284" cy="416966"/>
          </a:xfrm>
          <a:prstGeom prst="rect">
            <a:avLst/>
          </a:prstGeom>
          <a:noFill/>
          <a:ln/>
        </p:spPr>
        <p:txBody>
          <a:bodyPr wrap="square" lIns="0" tIns="0" rIns="0" bIns="0" rtlCol="0" anchor="t"/>
          <a:lstStyle/>
          <a:p>
            <a:pPr marL="0" indent="0">
              <a:lnSpc>
                <a:spcPct val="105000"/>
              </a:lnSpc>
              <a:buNone/>
            </a:pPr>
            <a:r>
              <a:rPr lang="en-US" sz="1000" dirty="0">
                <a:solidFill>
                  <a:srgbClr val="6B7A9E"/>
                </a:solidFill>
                <a:latin typeface="Calibri" pitchFamily="34" charset="0"/>
                <a:ea typeface="Calibri" pitchFamily="34" charset="-122"/>
                <a:cs typeface="Calibri" pitchFamily="34" charset="-120"/>
              </a:rPr>
              <a:t>Fraud correctly caught</a:t>
            </a:r>
            <a:endParaRPr lang="en-US" sz="1000" dirty="0"/>
          </a:p>
        </p:txBody>
      </p:sp>
      <p:sp>
        <p:nvSpPr>
          <p:cNvPr id="34" name="Shape 31"/>
          <p:cNvSpPr/>
          <p:nvPr/>
        </p:nvSpPr>
        <p:spPr>
          <a:xfrm>
            <a:off x="685800" y="5440680"/>
            <a:ext cx="10744200" cy="914400"/>
          </a:xfrm>
          <a:prstGeom prst="roundRect">
            <a:avLst>
              <a:gd name="adj" fmla="val 8000"/>
            </a:avLst>
          </a:prstGeom>
          <a:solidFill>
            <a:srgbClr val="1E2761"/>
          </a:solidFill>
          <a:ln/>
          <a:effectLst>
            <a:outerShdw blurRad="76200" dist="25400" dir="5400000" algn="bl" rotWithShape="0">
              <a:srgbClr val="0B1330">
                <a:alpha val="12000"/>
              </a:srgbClr>
            </a:outerShdw>
          </a:effectLst>
        </p:spPr>
        <p:txBody>
          <a:bodyPr/>
          <a:lstStyle/>
          <a:p>
            <a:endParaRPr lang="en-US"/>
          </a:p>
        </p:txBody>
      </p:sp>
      <p:sp>
        <p:nvSpPr>
          <p:cNvPr id="35" name="Text 32"/>
          <p:cNvSpPr/>
          <p:nvPr/>
        </p:nvSpPr>
        <p:spPr>
          <a:xfrm>
            <a:off x="960120" y="5440680"/>
            <a:ext cx="10195560" cy="914400"/>
          </a:xfrm>
          <a:prstGeom prst="rect">
            <a:avLst/>
          </a:prstGeom>
          <a:noFill/>
          <a:ln/>
        </p:spPr>
        <p:txBody>
          <a:bodyPr wrap="square" lIns="0" tIns="0" rIns="0" bIns="0" rtlCol="0" anchor="ctr"/>
          <a:lstStyle/>
          <a:p>
            <a:pPr marL="0" indent="0">
              <a:lnSpc>
                <a:spcPct val="120000"/>
              </a:lnSpc>
              <a:buNone/>
            </a:pPr>
            <a:r>
              <a:rPr lang="en-US" sz="1350" b="1" dirty="0">
                <a:solidFill>
                  <a:srgbClr val="F4A300"/>
                </a:solidFill>
                <a:latin typeface="Calibri" pitchFamily="34" charset="0"/>
                <a:ea typeface="Calibri" pitchFamily="34" charset="-122"/>
                <a:cs typeface="Calibri" pitchFamily="34" charset="-120"/>
              </a:rPr>
              <a:t>Logistic Regression</a:t>
            </a:r>
            <a:r>
              <a:rPr lang="en-US" sz="1350" dirty="0">
                <a:solidFill>
                  <a:srgbClr val="FFFFFF"/>
                </a:solidFill>
                <a:latin typeface="Calibri" pitchFamily="34" charset="0"/>
                <a:ea typeface="Calibri" pitchFamily="34" charset="-122"/>
                <a:cs typeface="Calibri" pitchFamily="34" charset="-120"/>
              </a:rPr>
              <a:t> catches 90 of 98 frauds but raises </a:t>
            </a:r>
            <a:r>
              <a:rPr lang="en-US" sz="1350" b="1" dirty="0">
                <a:solidFill>
                  <a:srgbClr val="FFFFFF"/>
                </a:solidFill>
                <a:latin typeface="Calibri" pitchFamily="34" charset="0"/>
                <a:ea typeface="Calibri" pitchFamily="34" charset="-122"/>
                <a:cs typeface="Calibri" pitchFamily="34" charset="-120"/>
              </a:rPr>
              <a:t>1,448 false alarms</a:t>
            </a:r>
            <a:r>
              <a:rPr lang="en-US" sz="1350" dirty="0">
                <a:solidFill>
                  <a:srgbClr val="FFFFFF"/>
                </a:solidFill>
                <a:latin typeface="Calibri" pitchFamily="34" charset="0"/>
                <a:ea typeface="Calibri" pitchFamily="34" charset="-122"/>
                <a:cs typeface="Calibri" pitchFamily="34" charset="-120"/>
              </a:rPr>
              <a:t>.  </a:t>
            </a:r>
            <a:r>
              <a:rPr lang="en-US" sz="1350" b="1" dirty="0">
                <a:solidFill>
                  <a:srgbClr val="F4A300"/>
                </a:solidFill>
                <a:latin typeface="Calibri" pitchFamily="34" charset="0"/>
                <a:ea typeface="Calibri" pitchFamily="34" charset="-122"/>
                <a:cs typeface="Calibri" pitchFamily="34" charset="-120"/>
              </a:rPr>
              <a:t>Random Forest</a:t>
            </a:r>
            <a:r>
              <a:rPr lang="en-US" sz="1350" dirty="0">
                <a:solidFill>
                  <a:srgbClr val="FFFFFF"/>
                </a:solidFill>
                <a:latin typeface="Calibri" pitchFamily="34" charset="0"/>
                <a:ea typeface="Calibri" pitchFamily="34" charset="-122"/>
                <a:cs typeface="Calibri" pitchFamily="34" charset="-120"/>
              </a:rPr>
              <a:t> catches 86 of 98 frauds with only </a:t>
            </a:r>
            <a:r>
              <a:rPr lang="en-US" sz="1350" b="1" dirty="0">
                <a:solidFill>
                  <a:srgbClr val="FFFFFF"/>
                </a:solidFill>
                <a:latin typeface="Calibri" pitchFamily="34" charset="0"/>
                <a:ea typeface="Calibri" pitchFamily="34" charset="-122"/>
                <a:cs typeface="Calibri" pitchFamily="34" charset="-120"/>
              </a:rPr>
              <a:t>69 false alarms</a:t>
            </a:r>
            <a:r>
              <a:rPr lang="en-US" sz="1350" dirty="0">
                <a:solidFill>
                  <a:srgbClr val="FFFFFF"/>
                </a:solidFill>
                <a:latin typeface="Calibri" pitchFamily="34" charset="0"/>
                <a:ea typeface="Calibri" pitchFamily="34" charset="-122"/>
                <a:cs typeface="Calibri" pitchFamily="34" charset="-120"/>
              </a:rPr>
              <a:t> — far more precise, at the cost of 4 missed frauds.</a:t>
            </a:r>
            <a:endParaRPr lang="en-US" sz="1350" dirty="0"/>
          </a:p>
        </p:txBody>
      </p:sp>
      <p:sp>
        <p:nvSpPr>
          <p:cNvPr id="36" name="Text 33"/>
          <p:cNvSpPr/>
          <p:nvPr/>
        </p:nvSpPr>
        <p:spPr>
          <a:xfrm>
            <a:off x="548640" y="6528816"/>
            <a:ext cx="7772400" cy="274320"/>
          </a:xfrm>
          <a:prstGeom prst="rect">
            <a:avLst/>
          </a:prstGeom>
          <a:noFill/>
          <a:ln/>
        </p:spPr>
        <p:txBody>
          <a:bodyPr wrap="square" lIns="0" tIns="0" rIns="0" bIns="0" rtlCol="0" anchor="ctr"/>
          <a:lstStyle/>
          <a:p>
            <a:pPr marL="0" indent="0" algn="l">
              <a:buNone/>
            </a:pPr>
            <a:r>
              <a:rPr lang="en-US" sz="900" kern="0" spc="100" dirty="0">
                <a:solidFill>
                  <a:srgbClr val="6B7A9E"/>
                </a:solidFill>
                <a:latin typeface="Calibri" pitchFamily="34" charset="0"/>
                <a:ea typeface="Calibri" pitchFamily="34" charset="-122"/>
                <a:cs typeface="Calibri" pitchFamily="34" charset="-120"/>
              </a:rPr>
              <a:t>YASHIL  ·  DECODELABS DATA SCIENCE INTERNSHIP</a:t>
            </a:r>
            <a:endParaRPr lang="en-US" sz="900" dirty="0"/>
          </a:p>
        </p:txBody>
      </p:sp>
      <p:sp>
        <p:nvSpPr>
          <p:cNvPr id="37" name="Text 34"/>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900" dirty="0">
                <a:solidFill>
                  <a:srgbClr val="6B7A9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2011680"/>
            <a:ext cx="4572000" cy="4572000"/>
          </a:xfrm>
          <a:prstGeom prst="ellipse">
            <a:avLst/>
          </a:prstGeom>
          <a:solidFill>
            <a:srgbClr val="CADCFC">
              <a:alpha val="10000"/>
            </a:srgbClr>
          </a:solidFill>
          <a:ln/>
        </p:spPr>
        <p:txBody>
          <a:bodyPr/>
          <a:lstStyle/>
          <a:p>
            <a:endParaRPr/>
          </a:p>
        </p:txBody>
      </p:sp>
      <p:sp>
        <p:nvSpPr>
          <p:cNvPr id="3" name="Text 1"/>
          <p:cNvSpPr/>
          <p:nvPr/>
        </p:nvSpPr>
        <p:spPr>
          <a:xfrm>
            <a:off x="685800" y="502920"/>
            <a:ext cx="7315200" cy="32004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KEY TAKEAWAYS</a:t>
            </a:r>
            <a:endParaRPr lang="en-US" sz="1300" dirty="0"/>
          </a:p>
        </p:txBody>
      </p:sp>
      <p:sp>
        <p:nvSpPr>
          <p:cNvPr id="4" name="Text 2"/>
          <p:cNvSpPr/>
          <p:nvPr/>
        </p:nvSpPr>
        <p:spPr>
          <a:xfrm>
            <a:off x="667512" y="804672"/>
            <a:ext cx="96012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This Project Demonstrates</a:t>
            </a:r>
            <a:endParaRPr lang="en-US" sz="2800" dirty="0"/>
          </a:p>
        </p:txBody>
      </p:sp>
      <p:sp>
        <p:nvSpPr>
          <p:cNvPr id="5" name="Shape 3"/>
          <p:cNvSpPr/>
          <p:nvPr/>
        </p:nvSpPr>
        <p:spPr>
          <a:xfrm>
            <a:off x="685800" y="1746504"/>
            <a:ext cx="566928" cy="566928"/>
          </a:xfrm>
          <a:prstGeom prst="ellipse">
            <a:avLst/>
          </a:prstGeom>
          <a:solidFill>
            <a:srgbClr val="141B47"/>
          </a:solidFill>
          <a:ln/>
        </p:spPr>
        <p:txBody>
          <a:bodyPr/>
          <a:lstStyle/>
          <a:p>
            <a:endParaRPr/>
          </a:p>
        </p:txBody>
      </p:sp>
      <p:pic>
        <p:nvPicPr>
          <p:cNvPr id="6" name="Image 0" descr="/home/claude/decodelabs_deck/assets/filter_amber.png"/>
          <p:cNvPicPr>
            <a:picLocks noChangeAspect="1"/>
          </p:cNvPicPr>
          <p:nvPr/>
        </p:nvPicPr>
        <p:blipFill>
          <a:blip r:embed="rId3"/>
          <a:stretch>
            <a:fillRect/>
          </a:stretch>
        </p:blipFill>
        <p:spPr>
          <a:xfrm>
            <a:off x="822960" y="1883664"/>
            <a:ext cx="292608" cy="292608"/>
          </a:xfrm>
          <a:prstGeom prst="rect">
            <a:avLst/>
          </a:prstGeom>
        </p:spPr>
      </p:pic>
      <p:sp>
        <p:nvSpPr>
          <p:cNvPr id="7" name="Text 4"/>
          <p:cNvSpPr/>
          <p:nvPr/>
        </p:nvSpPr>
        <p:spPr>
          <a:xfrm>
            <a:off x="1508760" y="1691640"/>
            <a:ext cx="9509760"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Clean deliberately</a:t>
            </a:r>
            <a:endParaRPr lang="en-US" sz="1450" dirty="0"/>
          </a:p>
        </p:txBody>
      </p:sp>
      <p:sp>
        <p:nvSpPr>
          <p:cNvPr id="8" name="Text 5"/>
          <p:cNvSpPr/>
          <p:nvPr/>
        </p:nvSpPr>
        <p:spPr>
          <a:xfrm>
            <a:off x="1508760" y="2002536"/>
            <a:ext cx="9509760" cy="502920"/>
          </a:xfrm>
          <a:prstGeom prst="rect">
            <a:avLst/>
          </a:prstGeom>
          <a:noFill/>
          <a:ln/>
        </p:spPr>
        <p:txBody>
          <a:bodyPr wrap="square" lIns="0" tIns="0" rIns="0" bIns="0" rtlCol="0" anchor="ctr"/>
          <a:lstStyle/>
          <a:p>
            <a:pPr marL="0" indent="0">
              <a:lnSpc>
                <a:spcPct val="115000"/>
              </a:lnSpc>
              <a:buNone/>
            </a:pPr>
            <a:r>
              <a:rPr lang="en-US" sz="1200" dirty="0">
                <a:solidFill>
                  <a:srgbClr val="CADCFC"/>
                </a:solidFill>
                <a:latin typeface="Calibri" pitchFamily="34" charset="0"/>
                <a:ea typeface="Calibri" pitchFamily="34" charset="-122"/>
                <a:cs typeface="Calibri" pitchFamily="34" charset="-120"/>
              </a:rPr>
              <a:t>Filling missing values (not dropping them) preserved all 1,200 orders — a blank CouponCode means “no coupon used,” not corrupt data.</a:t>
            </a:r>
            <a:endParaRPr lang="en-US" sz="1200" dirty="0"/>
          </a:p>
        </p:txBody>
      </p:sp>
      <p:sp>
        <p:nvSpPr>
          <p:cNvPr id="9" name="Shape 6"/>
          <p:cNvSpPr/>
          <p:nvPr/>
        </p:nvSpPr>
        <p:spPr>
          <a:xfrm>
            <a:off x="685800" y="2642616"/>
            <a:ext cx="566928" cy="566928"/>
          </a:xfrm>
          <a:prstGeom prst="ellipse">
            <a:avLst/>
          </a:prstGeom>
          <a:solidFill>
            <a:srgbClr val="141B47"/>
          </a:solidFill>
          <a:ln/>
        </p:spPr>
        <p:txBody>
          <a:bodyPr/>
          <a:lstStyle/>
          <a:p>
            <a:endParaRPr/>
          </a:p>
        </p:txBody>
      </p:sp>
      <p:pic>
        <p:nvPicPr>
          <p:cNvPr id="10" name="Image 1" descr="/home/claude/decodelabs_deck/assets/target_amber.png"/>
          <p:cNvPicPr>
            <a:picLocks noChangeAspect="1"/>
          </p:cNvPicPr>
          <p:nvPr/>
        </p:nvPicPr>
        <p:blipFill>
          <a:blip r:embed="rId4"/>
          <a:stretch>
            <a:fillRect/>
          </a:stretch>
        </p:blipFill>
        <p:spPr>
          <a:xfrm>
            <a:off x="822960" y="2779776"/>
            <a:ext cx="292608" cy="292608"/>
          </a:xfrm>
          <a:prstGeom prst="rect">
            <a:avLst/>
          </a:prstGeom>
        </p:spPr>
      </p:pic>
      <p:sp>
        <p:nvSpPr>
          <p:cNvPr id="11" name="Text 7"/>
          <p:cNvSpPr/>
          <p:nvPr/>
        </p:nvSpPr>
        <p:spPr>
          <a:xfrm>
            <a:off x="1508760" y="2587752"/>
            <a:ext cx="9509760"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The IQR rule tells the real story</a:t>
            </a:r>
            <a:endParaRPr lang="en-US" sz="1450" dirty="0"/>
          </a:p>
        </p:txBody>
      </p:sp>
      <p:sp>
        <p:nvSpPr>
          <p:cNvPr id="12" name="Text 8"/>
          <p:cNvSpPr/>
          <p:nvPr/>
        </p:nvSpPr>
        <p:spPr>
          <a:xfrm>
            <a:off x="1508760" y="2898648"/>
            <a:ext cx="9509760" cy="502920"/>
          </a:xfrm>
          <a:prstGeom prst="rect">
            <a:avLst/>
          </a:prstGeom>
          <a:noFill/>
          <a:ln/>
        </p:spPr>
        <p:txBody>
          <a:bodyPr wrap="square" lIns="0" tIns="0" rIns="0" bIns="0" rtlCol="0" anchor="ctr"/>
          <a:lstStyle/>
          <a:p>
            <a:pPr marL="0" indent="0">
              <a:lnSpc>
                <a:spcPct val="115000"/>
              </a:lnSpc>
              <a:buNone/>
            </a:pPr>
            <a:r>
              <a:rPr lang="en-US" sz="1200" dirty="0">
                <a:solidFill>
                  <a:srgbClr val="CADCFC"/>
                </a:solidFill>
                <a:latin typeface="Calibri" pitchFamily="34" charset="0"/>
                <a:ea typeface="Calibri" pitchFamily="34" charset="-122"/>
                <a:cs typeface="Calibri" pitchFamily="34" charset="-120"/>
              </a:rPr>
              <a:t>It flags outliers using spread, not assumptions — and found zero here, confirming the data was already clean.</a:t>
            </a:r>
            <a:endParaRPr lang="en-US" sz="1200" dirty="0"/>
          </a:p>
        </p:txBody>
      </p:sp>
      <p:sp>
        <p:nvSpPr>
          <p:cNvPr id="13" name="Shape 9"/>
          <p:cNvSpPr/>
          <p:nvPr/>
        </p:nvSpPr>
        <p:spPr>
          <a:xfrm>
            <a:off x="685800" y="3538728"/>
            <a:ext cx="566928" cy="566928"/>
          </a:xfrm>
          <a:prstGeom prst="ellipse">
            <a:avLst/>
          </a:prstGeom>
          <a:solidFill>
            <a:srgbClr val="141B47"/>
          </a:solidFill>
          <a:ln/>
        </p:spPr>
        <p:txBody>
          <a:bodyPr/>
          <a:lstStyle/>
          <a:p>
            <a:endParaRPr/>
          </a:p>
        </p:txBody>
      </p:sp>
      <p:pic>
        <p:nvPicPr>
          <p:cNvPr id="14" name="Image 2" descr="/home/claude/decodelabs_deck/assets/piechart_amber.png"/>
          <p:cNvPicPr>
            <a:picLocks noChangeAspect="1"/>
          </p:cNvPicPr>
          <p:nvPr/>
        </p:nvPicPr>
        <p:blipFill>
          <a:blip r:embed="rId5"/>
          <a:stretch>
            <a:fillRect/>
          </a:stretch>
        </p:blipFill>
        <p:spPr>
          <a:xfrm>
            <a:off x="822960" y="3675888"/>
            <a:ext cx="292608" cy="292608"/>
          </a:xfrm>
          <a:prstGeom prst="rect">
            <a:avLst/>
          </a:prstGeom>
        </p:spPr>
      </p:pic>
      <p:sp>
        <p:nvSpPr>
          <p:cNvPr id="15" name="Text 10"/>
          <p:cNvSpPr/>
          <p:nvPr/>
        </p:nvSpPr>
        <p:spPr>
          <a:xfrm>
            <a:off x="1508760" y="3483864"/>
            <a:ext cx="9509760"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Class imbalance breaks accuracy</a:t>
            </a:r>
            <a:endParaRPr lang="en-US" sz="1450" dirty="0"/>
          </a:p>
        </p:txBody>
      </p:sp>
      <p:sp>
        <p:nvSpPr>
          <p:cNvPr id="16" name="Text 11"/>
          <p:cNvSpPr/>
          <p:nvPr/>
        </p:nvSpPr>
        <p:spPr>
          <a:xfrm>
            <a:off x="1508760" y="3794760"/>
            <a:ext cx="9509760" cy="502920"/>
          </a:xfrm>
          <a:prstGeom prst="rect">
            <a:avLst/>
          </a:prstGeom>
          <a:noFill/>
          <a:ln/>
        </p:spPr>
        <p:txBody>
          <a:bodyPr wrap="square" lIns="0" tIns="0" rIns="0" bIns="0" rtlCol="0" anchor="ctr"/>
          <a:lstStyle/>
          <a:p>
            <a:pPr marL="0" indent="0">
              <a:lnSpc>
                <a:spcPct val="115000"/>
              </a:lnSpc>
              <a:buNone/>
            </a:pPr>
            <a:r>
              <a:rPr lang="en-US" sz="1200" dirty="0">
                <a:solidFill>
                  <a:srgbClr val="CADCFC"/>
                </a:solidFill>
                <a:latin typeface="Calibri" pitchFamily="34" charset="0"/>
                <a:ea typeface="Calibri" pitchFamily="34" charset="-122"/>
                <a:cs typeface="Calibri" pitchFamily="34" charset="-120"/>
              </a:rPr>
              <a:t>At 0.173% fraud, precision, recall, F1 and especially PR-AUC matter far more than accuracy or ROC-AUC.</a:t>
            </a:r>
            <a:endParaRPr lang="en-US" sz="1200" dirty="0"/>
          </a:p>
        </p:txBody>
      </p:sp>
      <p:sp>
        <p:nvSpPr>
          <p:cNvPr id="17" name="Shape 12"/>
          <p:cNvSpPr/>
          <p:nvPr/>
        </p:nvSpPr>
        <p:spPr>
          <a:xfrm>
            <a:off x="685800" y="4434840"/>
            <a:ext cx="566928" cy="566928"/>
          </a:xfrm>
          <a:prstGeom prst="ellipse">
            <a:avLst/>
          </a:prstGeom>
          <a:solidFill>
            <a:srgbClr val="141B47"/>
          </a:solidFill>
          <a:ln/>
        </p:spPr>
        <p:txBody>
          <a:bodyPr/>
          <a:lstStyle/>
          <a:p>
            <a:endParaRPr lang="en-US"/>
          </a:p>
        </p:txBody>
      </p:sp>
      <p:pic>
        <p:nvPicPr>
          <p:cNvPr id="18" name="Image 3" descr="/home/claude/decodelabs_deck/assets/gitbranch_amber.png"/>
          <p:cNvPicPr>
            <a:picLocks noChangeAspect="1"/>
          </p:cNvPicPr>
          <p:nvPr/>
        </p:nvPicPr>
        <p:blipFill>
          <a:blip r:embed="rId6"/>
          <a:stretch>
            <a:fillRect/>
          </a:stretch>
        </p:blipFill>
        <p:spPr>
          <a:xfrm>
            <a:off x="822960" y="4572000"/>
            <a:ext cx="292608" cy="292608"/>
          </a:xfrm>
          <a:prstGeom prst="rect">
            <a:avLst/>
          </a:prstGeom>
        </p:spPr>
      </p:pic>
      <p:sp>
        <p:nvSpPr>
          <p:cNvPr id="19" name="Text 13"/>
          <p:cNvSpPr/>
          <p:nvPr/>
        </p:nvSpPr>
        <p:spPr>
          <a:xfrm>
            <a:off x="1508760" y="4379976"/>
            <a:ext cx="9509760"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Pipelines prevent leakage</a:t>
            </a:r>
            <a:endParaRPr lang="en-US" sz="1450" dirty="0"/>
          </a:p>
        </p:txBody>
      </p:sp>
      <p:sp>
        <p:nvSpPr>
          <p:cNvPr id="20" name="Text 14"/>
          <p:cNvSpPr/>
          <p:nvPr/>
        </p:nvSpPr>
        <p:spPr>
          <a:xfrm>
            <a:off x="1508760" y="4690872"/>
            <a:ext cx="9509760" cy="502920"/>
          </a:xfrm>
          <a:prstGeom prst="rect">
            <a:avLst/>
          </a:prstGeom>
          <a:noFill/>
          <a:ln/>
        </p:spPr>
        <p:txBody>
          <a:bodyPr wrap="square" lIns="0" tIns="0" rIns="0" bIns="0" rtlCol="0" anchor="ctr"/>
          <a:lstStyle/>
          <a:p>
            <a:pPr marL="0" indent="0">
              <a:lnSpc>
                <a:spcPct val="115000"/>
              </a:lnSpc>
              <a:buNone/>
            </a:pPr>
            <a:r>
              <a:rPr lang="en-US" sz="1200" dirty="0">
                <a:solidFill>
                  <a:srgbClr val="CADCFC"/>
                </a:solidFill>
                <a:latin typeface="Calibri" pitchFamily="34" charset="0"/>
                <a:ea typeface="Calibri" pitchFamily="34" charset="-122"/>
                <a:cs typeface="Calibri" pitchFamily="34" charset="-120"/>
              </a:rPr>
              <a:t>SMOTE must sit inside cross-validation, generated only from training folds, never touching test data.</a:t>
            </a:r>
            <a:endParaRPr lang="en-US" sz="1200" dirty="0"/>
          </a:p>
        </p:txBody>
      </p:sp>
      <p:sp>
        <p:nvSpPr>
          <p:cNvPr id="21" name="Shape 15"/>
          <p:cNvSpPr/>
          <p:nvPr/>
        </p:nvSpPr>
        <p:spPr>
          <a:xfrm>
            <a:off x="685800" y="5330952"/>
            <a:ext cx="566928" cy="566928"/>
          </a:xfrm>
          <a:prstGeom prst="ellipse">
            <a:avLst/>
          </a:prstGeom>
          <a:solidFill>
            <a:srgbClr val="141B47"/>
          </a:solidFill>
          <a:ln/>
        </p:spPr>
        <p:txBody>
          <a:bodyPr/>
          <a:lstStyle/>
          <a:p>
            <a:endParaRPr lang="en-US"/>
          </a:p>
        </p:txBody>
      </p:sp>
      <p:pic>
        <p:nvPicPr>
          <p:cNvPr id="22" name="Image 4" descr="/home/claude/decodelabs_deck/assets/award_amber.png"/>
          <p:cNvPicPr>
            <a:picLocks noChangeAspect="1"/>
          </p:cNvPicPr>
          <p:nvPr/>
        </p:nvPicPr>
        <p:blipFill>
          <a:blip r:embed="rId7"/>
          <a:stretch>
            <a:fillRect/>
          </a:stretch>
        </p:blipFill>
        <p:spPr>
          <a:xfrm>
            <a:off x="822960" y="5468112"/>
            <a:ext cx="292608" cy="292608"/>
          </a:xfrm>
          <a:prstGeom prst="rect">
            <a:avLst/>
          </a:prstGeom>
        </p:spPr>
      </p:pic>
      <p:sp>
        <p:nvSpPr>
          <p:cNvPr id="23" name="Text 16"/>
          <p:cNvSpPr/>
          <p:nvPr/>
        </p:nvSpPr>
        <p:spPr>
          <a:xfrm>
            <a:off x="1508760" y="5276088"/>
            <a:ext cx="9509760"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Model choice is a trade-off</a:t>
            </a:r>
            <a:endParaRPr lang="en-US" sz="1450" dirty="0"/>
          </a:p>
        </p:txBody>
      </p:sp>
      <p:sp>
        <p:nvSpPr>
          <p:cNvPr id="24" name="Text 17"/>
          <p:cNvSpPr/>
          <p:nvPr/>
        </p:nvSpPr>
        <p:spPr>
          <a:xfrm>
            <a:off x="1508760" y="5586984"/>
            <a:ext cx="9509760" cy="502920"/>
          </a:xfrm>
          <a:prstGeom prst="rect">
            <a:avLst/>
          </a:prstGeom>
          <a:noFill/>
          <a:ln/>
        </p:spPr>
        <p:txBody>
          <a:bodyPr wrap="square" lIns="0" tIns="0" rIns="0" bIns="0" rtlCol="0" anchor="ctr"/>
          <a:lstStyle/>
          <a:p>
            <a:pPr marL="0" indent="0">
              <a:lnSpc>
                <a:spcPct val="115000"/>
              </a:lnSpc>
              <a:buNone/>
            </a:pPr>
            <a:r>
              <a:rPr lang="en-US" sz="1200" dirty="0">
                <a:solidFill>
                  <a:srgbClr val="CADCFC"/>
                </a:solidFill>
                <a:latin typeface="Calibri" pitchFamily="34" charset="0"/>
                <a:ea typeface="Calibri" pitchFamily="34" charset="-122"/>
                <a:cs typeface="Calibri" pitchFamily="34" charset="-120"/>
              </a:rPr>
              <a:t>Random Forest’s precision advantage (69 vs 1,448 false alarms) outweighed Logistic Regression’s slightly higher recall.</a:t>
            </a:r>
            <a:endParaRPr lang="en-US" sz="1200" dirty="0"/>
          </a:p>
        </p:txBody>
      </p:sp>
      <p:sp>
        <p:nvSpPr>
          <p:cNvPr id="25" name="Text 18"/>
          <p:cNvSpPr/>
          <p:nvPr/>
        </p:nvSpPr>
        <p:spPr>
          <a:xfrm>
            <a:off x="548640" y="6528816"/>
            <a:ext cx="7772400" cy="274320"/>
          </a:xfrm>
          <a:prstGeom prst="rect">
            <a:avLst/>
          </a:prstGeom>
          <a:noFill/>
          <a:ln/>
        </p:spPr>
        <p:txBody>
          <a:bodyPr wrap="square" lIns="0" tIns="0" rIns="0" bIns="0" rtlCol="0" anchor="ctr"/>
          <a:lstStyle/>
          <a:p>
            <a:pPr marL="0" indent="0" algn="l">
              <a:buNone/>
            </a:pPr>
            <a:r>
              <a:rPr lang="en-US" sz="900" kern="0" spc="100" dirty="0">
                <a:solidFill>
                  <a:srgbClr val="CADCFC"/>
                </a:solidFill>
                <a:latin typeface="Calibri" pitchFamily="34" charset="0"/>
                <a:ea typeface="Calibri" pitchFamily="34" charset="-122"/>
                <a:cs typeface="Calibri" pitchFamily="34" charset="-120"/>
              </a:rPr>
              <a:t>YASHIL  ·  DECODELABS DATA SCIENCE INTERNSHIP</a:t>
            </a:r>
            <a:endParaRPr lang="en-US" sz="900" dirty="0"/>
          </a:p>
        </p:txBody>
      </p:sp>
      <p:sp>
        <p:nvSpPr>
          <p:cNvPr id="26" name="Text 19"/>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1303</Words>
  <Application>Microsoft Office PowerPoint</Application>
  <PresentationFormat>Widescreen</PresentationFormat>
  <Paragraphs>265</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Yashil Modi</cp:lastModifiedBy>
  <cp:revision>1</cp:revision>
  <dcterms:created xsi:type="dcterms:W3CDTF">2026-07-23T16:43:57Z</dcterms:created>
  <dcterms:modified xsi:type="dcterms:W3CDTF">2026-07-23T19:09:48Z</dcterms:modified>
</cp:coreProperties>
</file>